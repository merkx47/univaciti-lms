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59" r:id="rId5"/>
    <p:sldId id="260" r:id="rId6"/>
    <p:sldId id="262" r:id="rId7"/>
    <p:sldId id="264" r:id="rId8"/>
    <p:sldId id="263" r:id="rId9"/>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8DA"/>
    <a:srgbClr val="FAFBFC"/>
    <a:srgbClr val="EEF2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44A1-FE65-B4B5-301B-481023344F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2B0FC0C5-F3A5-1EDD-31D8-BFADCB7F35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6547CCC1-41B1-0AEF-BF10-94DBE38972D1}"/>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5" name="Footer Placeholder 4">
            <a:extLst>
              <a:ext uri="{FF2B5EF4-FFF2-40B4-BE49-F238E27FC236}">
                <a16:creationId xmlns:a16="http://schemas.microsoft.com/office/drawing/2014/main" id="{D724FB90-9508-E6EB-2FBD-49B69E6D3C4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7FD9C97-114F-0F50-ED73-A511B4144A5B}"/>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3569299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159EC-349F-D216-E802-0C7F2B46753D}"/>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148F833F-4DCC-6AEE-C271-F85876D6F3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EA59BFA-3FF4-35CB-A06E-F0E4515387A8}"/>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5" name="Footer Placeholder 4">
            <a:extLst>
              <a:ext uri="{FF2B5EF4-FFF2-40B4-BE49-F238E27FC236}">
                <a16:creationId xmlns:a16="http://schemas.microsoft.com/office/drawing/2014/main" id="{8D264C34-E74A-7A62-B171-1B68734AEC9B}"/>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8FA7CF5-1067-27D8-5540-BDCE95C880CB}"/>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2456195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7CA0D-D0C8-BFF1-6585-423DDB21F3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C2FE30B5-8A7B-F5AC-C5A0-E32BBCCB25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D9EE37-2356-614A-150F-6C63C1A2BEC8}"/>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5" name="Footer Placeholder 4">
            <a:extLst>
              <a:ext uri="{FF2B5EF4-FFF2-40B4-BE49-F238E27FC236}">
                <a16:creationId xmlns:a16="http://schemas.microsoft.com/office/drawing/2014/main" id="{56CCA59A-F918-4291-91F6-6EB8BE7562F7}"/>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9CE2139-0FBB-9D86-0425-38B074DC81FF}"/>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1293013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A549-5141-9003-8F0D-AFA1CA20B613}"/>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68F0CAB0-DA12-1F67-A7DA-9230C692BF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29B91B12-531D-433B-6061-8E30967B78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F5EF8FED-9CB5-D5F2-1A0F-DDA12402C1C6}"/>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6" name="Footer Placeholder 5">
            <a:extLst>
              <a:ext uri="{FF2B5EF4-FFF2-40B4-BE49-F238E27FC236}">
                <a16:creationId xmlns:a16="http://schemas.microsoft.com/office/drawing/2014/main" id="{9CA5B51F-8B5C-E38E-090F-C5415C0C894C}"/>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FF56C0A8-339C-401F-7388-9B7361586E1C}"/>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2233976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07E67-4B02-3903-31F3-80D819DB27BD}"/>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F235B1E5-1EE3-89AF-CF5D-4FB2E17C7F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70E40E-E8BD-B5DA-339D-FA2C39FF52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EEA55235-3C04-884A-052B-0DCEC20D64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632261-3088-BD89-9C10-807044892D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E1A3C7B2-E18A-EECB-F188-2D751F8CAEE6}"/>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8" name="Footer Placeholder 7">
            <a:extLst>
              <a:ext uri="{FF2B5EF4-FFF2-40B4-BE49-F238E27FC236}">
                <a16:creationId xmlns:a16="http://schemas.microsoft.com/office/drawing/2014/main" id="{9E5EA9D5-4F0D-7F8D-0A61-30813113968A}"/>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7F3A1C45-D7E1-AD87-1218-1A668FC9800D}"/>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3630775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619EE-B536-D059-7B64-329F1167126E}"/>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F7669AEC-11B7-C13B-50E8-E45704CE22E9}"/>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4" name="Footer Placeholder 3">
            <a:extLst>
              <a:ext uri="{FF2B5EF4-FFF2-40B4-BE49-F238E27FC236}">
                <a16:creationId xmlns:a16="http://schemas.microsoft.com/office/drawing/2014/main" id="{2E3B2666-FEAE-7373-ABD2-DDFD02765A45}"/>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1EFE4B01-D953-1A2C-6895-D9634E81D679}"/>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1341773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B41A9E-EA91-720D-4298-018DBAB19E03}"/>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3" name="Footer Placeholder 2">
            <a:extLst>
              <a:ext uri="{FF2B5EF4-FFF2-40B4-BE49-F238E27FC236}">
                <a16:creationId xmlns:a16="http://schemas.microsoft.com/office/drawing/2014/main" id="{C9BC5079-CDD9-21CD-690B-8690DEC8FCC7}"/>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303975FD-034D-B926-C502-9E4AF719FB1D}"/>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2911722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D866-2237-2D25-AE05-705D1F3007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84DE81E5-802D-AEA2-7A46-F638A89706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9A1048B1-FF19-BE4C-F8D6-89A1A9B03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19B16-F45E-F224-B93B-9D6147C6432E}"/>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6" name="Footer Placeholder 5">
            <a:extLst>
              <a:ext uri="{FF2B5EF4-FFF2-40B4-BE49-F238E27FC236}">
                <a16:creationId xmlns:a16="http://schemas.microsoft.com/office/drawing/2014/main" id="{E41DE753-D12F-6DD5-8333-740895663E55}"/>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AAA62E48-3863-C2A6-B251-028A69EC8789}"/>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1284508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4166-7DF2-8E1E-620B-92B31B586A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66F6832D-05F1-AFBC-77E7-35186F9BD3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1EDA2CD5-FEFE-1220-C530-C6315DFA02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0308C4-F80D-EFC1-3185-1F1EA497192A}"/>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6" name="Footer Placeholder 5">
            <a:extLst>
              <a:ext uri="{FF2B5EF4-FFF2-40B4-BE49-F238E27FC236}">
                <a16:creationId xmlns:a16="http://schemas.microsoft.com/office/drawing/2014/main" id="{C2AE1283-4846-8955-E558-E5F0D39BE7A4}"/>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E0429B2E-FC95-2E49-BECB-9617A8A83471}"/>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10091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CD7F9-6A9C-6D7B-67A6-0AA09035FE87}"/>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A8E73021-D5E4-A0FC-15B5-97737BB8FC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44DE9857-6F89-0E5D-D1EC-36E392B0D47B}"/>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5" name="Footer Placeholder 4">
            <a:extLst>
              <a:ext uri="{FF2B5EF4-FFF2-40B4-BE49-F238E27FC236}">
                <a16:creationId xmlns:a16="http://schemas.microsoft.com/office/drawing/2014/main" id="{01B3BAF3-5F76-6CBB-8CEA-06AA08C07C8E}"/>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E729377E-AFBE-DA3E-811B-9987D0732D20}"/>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1904656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A926E8-60C5-BA8B-AE73-06F9E932E0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EBD45975-DCE3-9089-FF87-841B2E515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1CB107B2-40E8-D9D6-F196-ACE44141647A}"/>
              </a:ext>
            </a:extLst>
          </p:cNvPr>
          <p:cNvSpPr>
            <a:spLocks noGrp="1"/>
          </p:cNvSpPr>
          <p:nvPr>
            <p:ph type="dt" sz="half" idx="10"/>
          </p:nvPr>
        </p:nvSpPr>
        <p:spPr/>
        <p:txBody>
          <a:bodyPr/>
          <a:lstStyle/>
          <a:p>
            <a:fld id="{CBE3B85C-89BD-4AA7-9B7A-AF2C3A68194C}" type="datetimeFigureOut">
              <a:rPr lang="en-NG" smtClean="0"/>
              <a:t>21/01/2026</a:t>
            </a:fld>
            <a:endParaRPr lang="en-NG"/>
          </a:p>
        </p:txBody>
      </p:sp>
      <p:sp>
        <p:nvSpPr>
          <p:cNvPr id="5" name="Footer Placeholder 4">
            <a:extLst>
              <a:ext uri="{FF2B5EF4-FFF2-40B4-BE49-F238E27FC236}">
                <a16:creationId xmlns:a16="http://schemas.microsoft.com/office/drawing/2014/main" id="{CFF36A38-D204-8457-3F8B-94CFDAF1A941}"/>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E9076289-2F62-CCE6-F646-7F28007D52C0}"/>
              </a:ext>
            </a:extLst>
          </p:cNvPr>
          <p:cNvSpPr>
            <a:spLocks noGrp="1"/>
          </p:cNvSpPr>
          <p:nvPr>
            <p:ph type="sldNum" sz="quarter" idx="12"/>
          </p:nvPr>
        </p:nvSpPr>
        <p:spPr/>
        <p:txBody>
          <a:bodyPr/>
          <a:lstStyle/>
          <a:p>
            <a:fld id="{A5A432C5-FB4D-4FA4-9110-28BD006B0313}" type="slidenum">
              <a:rPr lang="en-NG" smtClean="0"/>
              <a:t>‹#›</a:t>
            </a:fld>
            <a:endParaRPr lang="en-NG"/>
          </a:p>
        </p:txBody>
      </p:sp>
    </p:spTree>
    <p:extLst>
      <p:ext uri="{BB962C8B-B14F-4D97-AF65-F5344CB8AC3E}">
        <p14:creationId xmlns:p14="http://schemas.microsoft.com/office/powerpoint/2010/main" val="2446785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E15FD1-94DC-9CCE-341F-848C9D3918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F3122FA3-C6F4-80D4-C8DA-4F3C19259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03A6EEE7-4B62-B871-8245-F9D2D80533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E3B85C-89BD-4AA7-9B7A-AF2C3A68194C}" type="datetimeFigureOut">
              <a:rPr lang="en-NG" smtClean="0"/>
              <a:t>21/01/2026</a:t>
            </a:fld>
            <a:endParaRPr lang="en-NG"/>
          </a:p>
        </p:txBody>
      </p:sp>
      <p:sp>
        <p:nvSpPr>
          <p:cNvPr id="5" name="Footer Placeholder 4">
            <a:extLst>
              <a:ext uri="{FF2B5EF4-FFF2-40B4-BE49-F238E27FC236}">
                <a16:creationId xmlns:a16="http://schemas.microsoft.com/office/drawing/2014/main" id="{20C68D66-8264-B8FE-D3EF-C852BD0FD1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G"/>
          </a:p>
        </p:txBody>
      </p:sp>
      <p:sp>
        <p:nvSpPr>
          <p:cNvPr id="6" name="Slide Number Placeholder 5">
            <a:extLst>
              <a:ext uri="{FF2B5EF4-FFF2-40B4-BE49-F238E27FC236}">
                <a16:creationId xmlns:a16="http://schemas.microsoft.com/office/drawing/2014/main" id="{DDC2D9AD-41B8-477B-48FD-1498E389C2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432C5-FB4D-4FA4-9110-28BD006B0313}" type="slidenum">
              <a:rPr lang="en-NG" smtClean="0"/>
              <a:t>‹#›</a:t>
            </a:fld>
            <a:endParaRPr lang="en-NG"/>
          </a:p>
        </p:txBody>
      </p:sp>
    </p:spTree>
    <p:extLst>
      <p:ext uri="{BB962C8B-B14F-4D97-AF65-F5344CB8AC3E}">
        <p14:creationId xmlns:p14="http://schemas.microsoft.com/office/powerpoint/2010/main" val="2291483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1.xml"/><Relationship Id="rId6" Type="http://schemas.openxmlformats.org/officeDocument/2006/relationships/slide" Target="slide4.xml"/><Relationship Id="rId5" Type="http://schemas.openxmlformats.org/officeDocument/2006/relationships/slide" Target="slide3.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3.png"/><Relationship Id="rId21" Type="http://schemas.openxmlformats.org/officeDocument/2006/relationships/slide" Target="slide1.xml"/><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slide" Target="slide4.xml"/><Relationship Id="rId2" Type="http://schemas.openxmlformats.org/officeDocument/2006/relationships/image" Target="../media/image2.png"/><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image" Target="../media/image10.png"/><Relationship Id="rId24" Type="http://schemas.openxmlformats.org/officeDocument/2006/relationships/slide" Target="slide3.xml"/><Relationship Id="rId5"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slide" Target="slide2.xml"/><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slide" Target="slide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3.svg"/><Relationship Id="rId11" Type="http://schemas.openxmlformats.org/officeDocument/2006/relationships/slide" Target="slide4.xml"/><Relationship Id="rId5" Type="http://schemas.openxmlformats.org/officeDocument/2006/relationships/image" Target="../media/image12.png"/><Relationship Id="rId10" Type="http://schemas.openxmlformats.org/officeDocument/2006/relationships/slide" Target="slide3.xml"/><Relationship Id="rId4" Type="http://schemas.openxmlformats.org/officeDocument/2006/relationships/slide" Target="slide7.xml"/><Relationship Id="rId9" Type="http://schemas.openxmlformats.org/officeDocument/2006/relationships/slide" Target="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4.png"/><Relationship Id="rId18" Type="http://schemas.openxmlformats.org/officeDocument/2006/relationships/slide" Target="slide2.xml"/><Relationship Id="rId3" Type="http://schemas.openxmlformats.org/officeDocument/2006/relationships/image" Target="../media/image8.png"/><Relationship Id="rId7" Type="http://schemas.openxmlformats.org/officeDocument/2006/relationships/image" Target="../media/image16.png"/><Relationship Id="rId12" Type="http://schemas.openxmlformats.org/officeDocument/2006/relationships/image" Target="../media/image23.png"/><Relationship Id="rId17" Type="http://schemas.openxmlformats.org/officeDocument/2006/relationships/image" Target="../media/image1.png"/><Relationship Id="rId2" Type="http://schemas.openxmlformats.org/officeDocument/2006/relationships/image" Target="../media/image2.png"/><Relationship Id="rId16" Type="http://schemas.openxmlformats.org/officeDocument/2006/relationships/slide" Target="slide1.xml"/><Relationship Id="rId20" Type="http://schemas.openxmlformats.org/officeDocument/2006/relationships/slide" Target="slide4.xml"/><Relationship Id="rId1" Type="http://schemas.openxmlformats.org/officeDocument/2006/relationships/slideLayout" Target="../slideLayouts/slideLayout1.xml"/><Relationship Id="rId6" Type="http://schemas.openxmlformats.org/officeDocument/2006/relationships/image" Target="../media/image13.svg"/><Relationship Id="rId11" Type="http://schemas.openxmlformats.org/officeDocument/2006/relationships/image" Target="../media/image22.png"/><Relationship Id="rId5" Type="http://schemas.openxmlformats.org/officeDocument/2006/relationships/image" Target="../media/image12.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slide" Target="slide3.xml"/><Relationship Id="rId4" Type="http://schemas.openxmlformats.org/officeDocument/2006/relationships/image" Target="../media/image9.svg"/><Relationship Id="rId9" Type="http://schemas.openxmlformats.org/officeDocument/2006/relationships/image" Target="../media/image20.png"/><Relationship Id="rId14"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1.xml"/><Relationship Id="rId5" Type="http://schemas.openxmlformats.org/officeDocument/2006/relationships/image" Target="../media/image13.svg"/><Relationship Id="rId10" Type="http://schemas.openxmlformats.org/officeDocument/2006/relationships/slide" Target="slide4.xml"/><Relationship Id="rId4" Type="http://schemas.openxmlformats.org/officeDocument/2006/relationships/image" Target="../media/image12.png"/><Relationship Id="rId9"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1.xml"/><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1.xml"/><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2.png"/><Relationship Id="rId7" Type="http://schemas.openxmlformats.org/officeDocument/2006/relationships/slide" Target="slide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51C9F18-90DC-DFD9-EEDF-C2505602EE22}"/>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D861107D-80AF-9467-9B7C-19ABB3D5D11B}"/>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sp>
        <p:nvSpPr>
          <p:cNvPr id="7" name="Rectangle: Rounded Corners 6">
            <a:extLst>
              <a:ext uri="{FF2B5EF4-FFF2-40B4-BE49-F238E27FC236}">
                <a16:creationId xmlns:a16="http://schemas.microsoft.com/office/drawing/2014/main" id="{9DD161D2-ED99-76A4-AEA8-A4E82A6A24F6}"/>
              </a:ext>
            </a:extLst>
          </p:cNvPr>
          <p:cNvSpPr/>
          <p:nvPr/>
        </p:nvSpPr>
        <p:spPr>
          <a:xfrm>
            <a:off x="1198258" y="2089148"/>
            <a:ext cx="5305028" cy="15113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iome" panose="020B0503030204020804" pitchFamily="34" charset="0"/>
                <a:cs typeface="Biome" panose="020B0503030204020804" pitchFamily="34" charset="0"/>
              </a:rPr>
              <a:t>Get an accelerated skill, from Novis to Expertise. Get certified, get validated.</a:t>
            </a:r>
            <a:endParaRPr lang="en-NG" sz="2400" dirty="0">
              <a:solidFill>
                <a:schemeClr val="tx1"/>
              </a:solidFill>
              <a:latin typeface="Biome" panose="020B0503030204020804" pitchFamily="34" charset="0"/>
              <a:cs typeface="Biome" panose="020B0503030204020804" pitchFamily="34" charset="0"/>
            </a:endParaRPr>
          </a:p>
        </p:txBody>
      </p:sp>
      <p:pic>
        <p:nvPicPr>
          <p:cNvPr id="8" name="Picture 7">
            <a:hlinkClick r:id="rId2" action="ppaction://hlinksldjump"/>
            <a:extLst>
              <a:ext uri="{FF2B5EF4-FFF2-40B4-BE49-F238E27FC236}">
                <a16:creationId xmlns:a16="http://schemas.microsoft.com/office/drawing/2014/main" id="{03A6C201-CA97-42FB-EF32-F5049A4A4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664" y="502744"/>
            <a:ext cx="1677735" cy="395030"/>
          </a:xfrm>
          <a:prstGeom prst="rect">
            <a:avLst/>
          </a:prstGeom>
        </p:spPr>
      </p:pic>
      <p:sp>
        <p:nvSpPr>
          <p:cNvPr id="9" name="Oval 8">
            <a:extLst>
              <a:ext uri="{FF2B5EF4-FFF2-40B4-BE49-F238E27FC236}">
                <a16:creationId xmlns:a16="http://schemas.microsoft.com/office/drawing/2014/main" id="{314D8C5D-295A-E215-3B29-0EAD7800264F}"/>
              </a:ext>
            </a:extLst>
          </p:cNvPr>
          <p:cNvSpPr/>
          <p:nvPr/>
        </p:nvSpPr>
        <p:spPr>
          <a:xfrm>
            <a:off x="6673007" y="1380676"/>
            <a:ext cx="3456513" cy="3282254"/>
          </a:xfrm>
          <a:prstGeom prst="ellipse">
            <a:avLst/>
          </a:prstGeom>
          <a:solidFill>
            <a:schemeClr val="tx2">
              <a:lumMod val="10000"/>
              <a:lumOff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iome" panose="020B0503030204020804" pitchFamily="34" charset="0"/>
                <a:cs typeface="Biome" panose="020B0503030204020804" pitchFamily="34" charset="0"/>
              </a:rPr>
              <a:t>Some Image</a:t>
            </a:r>
            <a:endParaRPr lang="en-NG" dirty="0">
              <a:solidFill>
                <a:schemeClr val="tx1"/>
              </a:solidFill>
              <a:latin typeface="Biome" panose="020B0503030204020804" pitchFamily="34" charset="0"/>
              <a:cs typeface="Biome" panose="020B0503030204020804" pitchFamily="34" charset="0"/>
            </a:endParaRPr>
          </a:p>
        </p:txBody>
      </p:sp>
      <p:sp>
        <p:nvSpPr>
          <p:cNvPr id="10" name="Rectangle: Rounded Corners 9">
            <a:extLst>
              <a:ext uri="{FF2B5EF4-FFF2-40B4-BE49-F238E27FC236}">
                <a16:creationId xmlns:a16="http://schemas.microsoft.com/office/drawing/2014/main" id="{7BF6CBEE-AD50-31AE-542F-5E6302505282}"/>
              </a:ext>
            </a:extLst>
          </p:cNvPr>
          <p:cNvSpPr/>
          <p:nvPr/>
        </p:nvSpPr>
        <p:spPr>
          <a:xfrm>
            <a:off x="3290927" y="5374470"/>
            <a:ext cx="1021830" cy="457200"/>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Biome" panose="020B0503030204020804" pitchFamily="34" charset="0"/>
                <a:cs typeface="Biome" panose="020B0503030204020804" pitchFamily="34" charset="0"/>
              </a:rPr>
              <a:t>Image</a:t>
            </a:r>
            <a:endParaRPr lang="en-NG" sz="1050" dirty="0">
              <a:latin typeface="Biome" panose="020B0503030204020804" pitchFamily="34" charset="0"/>
              <a:cs typeface="Biome" panose="020B0503030204020804" pitchFamily="34" charset="0"/>
            </a:endParaRPr>
          </a:p>
        </p:txBody>
      </p:sp>
      <p:sp>
        <p:nvSpPr>
          <p:cNvPr id="15" name="Rectangle: Rounded Corners 14">
            <a:extLst>
              <a:ext uri="{FF2B5EF4-FFF2-40B4-BE49-F238E27FC236}">
                <a16:creationId xmlns:a16="http://schemas.microsoft.com/office/drawing/2014/main" id="{782F91D8-7308-DBDF-5981-BF31799B0AD7}"/>
              </a:ext>
            </a:extLst>
          </p:cNvPr>
          <p:cNvSpPr/>
          <p:nvPr/>
        </p:nvSpPr>
        <p:spPr>
          <a:xfrm>
            <a:off x="1299556" y="5156651"/>
            <a:ext cx="2093884" cy="986968"/>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Biome" panose="020B0503030204020804" pitchFamily="34" charset="0"/>
                <a:cs typeface="Biome" panose="020B0503030204020804" pitchFamily="34" charset="0"/>
              </a:rPr>
              <a:t>Learning</a:t>
            </a:r>
          </a:p>
          <a:p>
            <a:endParaRPr lang="en-US" sz="1100" b="1" dirty="0">
              <a:solidFill>
                <a:schemeClr val="tx1"/>
              </a:solidFill>
              <a:latin typeface="Biome" panose="020B0503030204020804" pitchFamily="34" charset="0"/>
              <a:cs typeface="Biome" panose="020B0503030204020804" pitchFamily="34" charset="0"/>
            </a:endParaRPr>
          </a:p>
          <a:p>
            <a:r>
              <a:rPr lang="en-US" sz="1100" dirty="0">
                <a:solidFill>
                  <a:schemeClr val="tx1"/>
                </a:solidFill>
                <a:latin typeface="Biome" panose="020B0503030204020804" pitchFamily="34" charset="0"/>
                <a:cs typeface="Biome" panose="020B0503030204020804" pitchFamily="34" charset="0"/>
              </a:rPr>
              <a:t>Hop on any of the specialization course and learn on your own terms.</a:t>
            </a:r>
          </a:p>
        </p:txBody>
      </p:sp>
      <p:sp>
        <p:nvSpPr>
          <p:cNvPr id="19" name="Rectangle: Rounded Corners 18">
            <a:extLst>
              <a:ext uri="{FF2B5EF4-FFF2-40B4-BE49-F238E27FC236}">
                <a16:creationId xmlns:a16="http://schemas.microsoft.com/office/drawing/2014/main" id="{DBA18280-0D05-D0B4-11F4-4953FDBEF99C}"/>
              </a:ext>
            </a:extLst>
          </p:cNvPr>
          <p:cNvSpPr/>
          <p:nvPr/>
        </p:nvSpPr>
        <p:spPr>
          <a:xfrm>
            <a:off x="4778271" y="5172213"/>
            <a:ext cx="1843290" cy="98696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Biome" panose="020B0503030204020804" pitchFamily="34" charset="0"/>
                <a:cs typeface="Biome" panose="020B0503030204020804" pitchFamily="34" charset="0"/>
              </a:rPr>
              <a:t>Certification</a:t>
            </a:r>
          </a:p>
          <a:p>
            <a:endParaRPr lang="en-US" sz="1100" b="1" dirty="0">
              <a:solidFill>
                <a:schemeClr val="tx1"/>
              </a:solidFill>
              <a:latin typeface="Biome" panose="020B0503030204020804" pitchFamily="34" charset="0"/>
              <a:cs typeface="Biome" panose="020B0503030204020804" pitchFamily="34" charset="0"/>
            </a:endParaRPr>
          </a:p>
          <a:p>
            <a:r>
              <a:rPr lang="en-US" sz="1100" dirty="0">
                <a:solidFill>
                  <a:schemeClr val="tx1"/>
                </a:solidFill>
                <a:latin typeface="Biome" panose="020B0503030204020804" pitchFamily="34" charset="0"/>
                <a:cs typeface="Biome" panose="020B0503030204020804" pitchFamily="34" charset="0"/>
              </a:rPr>
              <a:t>Get certified to receive validation recruiters are looking for.</a:t>
            </a:r>
          </a:p>
        </p:txBody>
      </p:sp>
      <p:sp>
        <p:nvSpPr>
          <p:cNvPr id="21" name="Rectangle: Rounded Corners 20">
            <a:extLst>
              <a:ext uri="{FF2B5EF4-FFF2-40B4-BE49-F238E27FC236}">
                <a16:creationId xmlns:a16="http://schemas.microsoft.com/office/drawing/2014/main" id="{70B6D667-D8D5-A65A-C464-1508E8943191}"/>
              </a:ext>
            </a:extLst>
          </p:cNvPr>
          <p:cNvSpPr/>
          <p:nvPr/>
        </p:nvSpPr>
        <p:spPr>
          <a:xfrm>
            <a:off x="8352218" y="5116904"/>
            <a:ext cx="1682519" cy="110269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Biome" panose="020B0503030204020804" pitchFamily="34" charset="0"/>
                <a:cs typeface="Biome" panose="020B0503030204020804" pitchFamily="34" charset="0"/>
              </a:rPr>
              <a:t>Recruitment</a:t>
            </a:r>
          </a:p>
          <a:p>
            <a:endParaRPr lang="en-US" sz="1100" b="1" dirty="0">
              <a:solidFill>
                <a:schemeClr val="tx1"/>
              </a:solidFill>
              <a:latin typeface="Biome" panose="020B0503030204020804" pitchFamily="34" charset="0"/>
              <a:cs typeface="Biome" panose="020B0503030204020804" pitchFamily="34" charset="0"/>
            </a:endParaRPr>
          </a:p>
          <a:p>
            <a:r>
              <a:rPr lang="en-US" sz="1100" dirty="0">
                <a:solidFill>
                  <a:schemeClr val="tx1"/>
                </a:solidFill>
                <a:latin typeface="Biome" panose="020B0503030204020804" pitchFamily="34" charset="0"/>
                <a:cs typeface="Biome" panose="020B0503030204020804" pitchFamily="34" charset="0"/>
              </a:rPr>
              <a:t>Get access to the pool of certified professionals.</a:t>
            </a:r>
          </a:p>
        </p:txBody>
      </p:sp>
      <p:sp>
        <p:nvSpPr>
          <p:cNvPr id="22" name="Rectangle: Rounded Corners 21">
            <a:extLst>
              <a:ext uri="{FF2B5EF4-FFF2-40B4-BE49-F238E27FC236}">
                <a16:creationId xmlns:a16="http://schemas.microsoft.com/office/drawing/2014/main" id="{250115DC-B87C-33CB-7E98-638F6C95C0D1}"/>
              </a:ext>
            </a:extLst>
          </p:cNvPr>
          <p:cNvSpPr/>
          <p:nvPr/>
        </p:nvSpPr>
        <p:spPr>
          <a:xfrm>
            <a:off x="6647890" y="5394351"/>
            <a:ext cx="977081" cy="45720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Biome" panose="020B0503030204020804" pitchFamily="34" charset="0"/>
                <a:cs typeface="Biome" panose="020B0503030204020804" pitchFamily="34" charset="0"/>
              </a:rPr>
              <a:t>Image</a:t>
            </a:r>
            <a:endParaRPr lang="en-NG" sz="1050" dirty="0">
              <a:latin typeface="Biome" panose="020B0503030204020804" pitchFamily="34" charset="0"/>
              <a:cs typeface="Biome" panose="020B0503030204020804" pitchFamily="34" charset="0"/>
            </a:endParaRPr>
          </a:p>
        </p:txBody>
      </p:sp>
      <p:sp>
        <p:nvSpPr>
          <p:cNvPr id="23" name="Rectangle: Rounded Corners 22">
            <a:extLst>
              <a:ext uri="{FF2B5EF4-FFF2-40B4-BE49-F238E27FC236}">
                <a16:creationId xmlns:a16="http://schemas.microsoft.com/office/drawing/2014/main" id="{7AAA2A82-28EF-717A-2EF3-B64E6C01EBAE}"/>
              </a:ext>
            </a:extLst>
          </p:cNvPr>
          <p:cNvSpPr/>
          <p:nvPr/>
        </p:nvSpPr>
        <p:spPr>
          <a:xfrm>
            <a:off x="9825704" y="5374469"/>
            <a:ext cx="920233" cy="457200"/>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Biome" panose="020B0503030204020804" pitchFamily="34" charset="0"/>
                <a:cs typeface="Biome" panose="020B0503030204020804" pitchFamily="34" charset="0"/>
              </a:rPr>
              <a:t>Image</a:t>
            </a:r>
            <a:endParaRPr lang="en-NG" sz="1050" dirty="0">
              <a:latin typeface="Biome" panose="020B0503030204020804" pitchFamily="34" charset="0"/>
              <a:cs typeface="Biome" panose="020B0503030204020804" pitchFamily="34" charset="0"/>
            </a:endParaRPr>
          </a:p>
        </p:txBody>
      </p:sp>
      <p:sp>
        <p:nvSpPr>
          <p:cNvPr id="24" name="Rectangle: Rounded Corners 23">
            <a:hlinkClick r:id="rId4" action="ppaction://hlinksldjump"/>
            <a:extLst>
              <a:ext uri="{FF2B5EF4-FFF2-40B4-BE49-F238E27FC236}">
                <a16:creationId xmlns:a16="http://schemas.microsoft.com/office/drawing/2014/main" id="{07815B91-0AEF-78BC-CA81-60FE643F23B5}"/>
              </a:ext>
            </a:extLst>
          </p:cNvPr>
          <p:cNvSpPr>
            <a:spLocks/>
          </p:cNvSpPr>
          <p:nvPr/>
        </p:nvSpPr>
        <p:spPr>
          <a:xfrm>
            <a:off x="2726975"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Programmes</a:t>
            </a:r>
          </a:p>
        </p:txBody>
      </p:sp>
      <p:sp>
        <p:nvSpPr>
          <p:cNvPr id="25" name="Rectangle: Rounded Corners 24">
            <a:hlinkClick r:id="rId5" action="ppaction://hlinksldjump"/>
            <a:extLst>
              <a:ext uri="{FF2B5EF4-FFF2-40B4-BE49-F238E27FC236}">
                <a16:creationId xmlns:a16="http://schemas.microsoft.com/office/drawing/2014/main" id="{71A12A43-9C9F-48E2-41D5-42BFEE62E1F5}"/>
              </a:ext>
            </a:extLst>
          </p:cNvPr>
          <p:cNvSpPr/>
          <p:nvPr/>
        </p:nvSpPr>
        <p:spPr>
          <a:xfrm>
            <a:off x="4097157"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Certification</a:t>
            </a:r>
          </a:p>
        </p:txBody>
      </p:sp>
      <p:sp>
        <p:nvSpPr>
          <p:cNvPr id="26" name="Rectangle: Rounded Corners 25">
            <a:hlinkClick r:id="rId6" action="ppaction://hlinksldjump"/>
            <a:extLst>
              <a:ext uri="{FF2B5EF4-FFF2-40B4-BE49-F238E27FC236}">
                <a16:creationId xmlns:a16="http://schemas.microsoft.com/office/drawing/2014/main" id="{613CBCDD-76D7-1C10-3D3C-F96980AC97E9}"/>
              </a:ext>
            </a:extLst>
          </p:cNvPr>
          <p:cNvSpPr/>
          <p:nvPr/>
        </p:nvSpPr>
        <p:spPr>
          <a:xfrm>
            <a:off x="559786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Recruitment</a:t>
            </a:r>
          </a:p>
        </p:txBody>
      </p:sp>
      <p:sp>
        <p:nvSpPr>
          <p:cNvPr id="27" name="Rectangle: Rounded Corners 26">
            <a:extLst>
              <a:ext uri="{FF2B5EF4-FFF2-40B4-BE49-F238E27FC236}">
                <a16:creationId xmlns:a16="http://schemas.microsoft.com/office/drawing/2014/main" id="{D159318F-1941-882C-5D31-B76DA33D350E}"/>
              </a:ext>
            </a:extLst>
          </p:cNvPr>
          <p:cNvSpPr/>
          <p:nvPr/>
        </p:nvSpPr>
        <p:spPr>
          <a:xfrm>
            <a:off x="709085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Community</a:t>
            </a:r>
          </a:p>
        </p:txBody>
      </p:sp>
      <p:pic>
        <p:nvPicPr>
          <p:cNvPr id="30" name="Picture 29">
            <a:extLst>
              <a:ext uri="{FF2B5EF4-FFF2-40B4-BE49-F238E27FC236}">
                <a16:creationId xmlns:a16="http://schemas.microsoft.com/office/drawing/2014/main" id="{E1A7CA24-EDD3-7518-28B7-A049B712521A}"/>
              </a:ext>
            </a:extLst>
          </p:cNvPr>
          <p:cNvPicPr>
            <a:picLocks noChangeAspect="1"/>
          </p:cNvPicPr>
          <p:nvPr/>
        </p:nvPicPr>
        <p:blipFill>
          <a:blip r:embed="rId7"/>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DE4385F4-2AD4-4B2C-6C2F-EBEAD30C3D6F}"/>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pic>
        <p:nvPicPr>
          <p:cNvPr id="33" name="Picture 32">
            <a:hlinkClick r:id="rId4" action="ppaction://hlinksldjump"/>
            <a:extLst>
              <a:ext uri="{FF2B5EF4-FFF2-40B4-BE49-F238E27FC236}">
                <a16:creationId xmlns:a16="http://schemas.microsoft.com/office/drawing/2014/main" id="{6F5892D5-8E5A-04EC-0F5A-296E4ED1FA3B}"/>
              </a:ext>
            </a:extLst>
          </p:cNvPr>
          <p:cNvPicPr>
            <a:picLocks noChangeAspect="1"/>
          </p:cNvPicPr>
          <p:nvPr/>
        </p:nvPicPr>
        <p:blipFill>
          <a:blip r:embed="rId8"/>
          <a:stretch>
            <a:fillRect/>
          </a:stretch>
        </p:blipFill>
        <p:spPr>
          <a:xfrm>
            <a:off x="1212267" y="6324776"/>
            <a:ext cx="1144853" cy="390291"/>
          </a:xfrm>
          <a:prstGeom prst="rect">
            <a:avLst/>
          </a:prstGeom>
          <a:solidFill>
            <a:srgbClr val="FAFBFC"/>
          </a:solidFill>
        </p:spPr>
      </p:pic>
    </p:spTree>
    <p:extLst>
      <p:ext uri="{BB962C8B-B14F-4D97-AF65-F5344CB8AC3E}">
        <p14:creationId xmlns:p14="http://schemas.microsoft.com/office/powerpoint/2010/main" val="48483126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CC85-54ED-1168-E41A-A8103A5DDE39}"/>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67E9E87-401E-BC82-3A42-73F7A0F1939B}"/>
              </a:ext>
            </a:extLst>
          </p:cNvPr>
          <p:cNvSpPr/>
          <p:nvPr/>
        </p:nvSpPr>
        <p:spPr>
          <a:xfrm>
            <a:off x="1403986" y="3067912"/>
            <a:ext cx="1624003" cy="2174648"/>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T E S A</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4" name="Rectangle: Rounded Corners 3">
            <a:extLst>
              <a:ext uri="{FF2B5EF4-FFF2-40B4-BE49-F238E27FC236}">
                <a16:creationId xmlns:a16="http://schemas.microsoft.com/office/drawing/2014/main" id="{EFBEB668-B338-E011-85F2-769DD5064039}"/>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4D493C9D-5226-6CC7-3D9A-75FEBFA14E12}"/>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sp>
        <p:nvSpPr>
          <p:cNvPr id="15" name="Rectangle: Rounded Corners 14">
            <a:extLst>
              <a:ext uri="{FF2B5EF4-FFF2-40B4-BE49-F238E27FC236}">
                <a16:creationId xmlns:a16="http://schemas.microsoft.com/office/drawing/2014/main" id="{C11A4F88-3E66-3BFF-53B3-EF540F322D4B}"/>
              </a:ext>
            </a:extLst>
          </p:cNvPr>
          <p:cNvSpPr/>
          <p:nvPr/>
        </p:nvSpPr>
        <p:spPr>
          <a:xfrm>
            <a:off x="1442207" y="3848789"/>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For beginners who need intensive courses in specialized skills</a:t>
            </a:r>
          </a:p>
        </p:txBody>
      </p:sp>
      <p:pic>
        <p:nvPicPr>
          <p:cNvPr id="30" name="Picture 29">
            <a:extLst>
              <a:ext uri="{FF2B5EF4-FFF2-40B4-BE49-F238E27FC236}">
                <a16:creationId xmlns:a16="http://schemas.microsoft.com/office/drawing/2014/main" id="{70046227-F189-3FC4-3962-568825A1CA10}"/>
              </a:ext>
            </a:extLst>
          </p:cNvPr>
          <p:cNvPicPr>
            <a:picLocks noChangeAspect="1"/>
          </p:cNvPicPr>
          <p:nvPr/>
        </p:nvPicPr>
        <p:blipFill>
          <a:blip r:embed="rId2"/>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CF7BBFE7-3EE5-FCCA-C0CA-965D69495AB2}"/>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pic>
        <p:nvPicPr>
          <p:cNvPr id="33" name="Picture 32">
            <a:extLst>
              <a:ext uri="{FF2B5EF4-FFF2-40B4-BE49-F238E27FC236}">
                <a16:creationId xmlns:a16="http://schemas.microsoft.com/office/drawing/2014/main" id="{6376AF2B-CE48-07D1-112E-E41DEFA41440}"/>
              </a:ext>
            </a:extLst>
          </p:cNvPr>
          <p:cNvPicPr>
            <a:picLocks noChangeAspect="1"/>
          </p:cNvPicPr>
          <p:nvPr/>
        </p:nvPicPr>
        <p:blipFill>
          <a:blip r:embed="rId3"/>
          <a:stretch>
            <a:fillRect/>
          </a:stretch>
        </p:blipFill>
        <p:spPr>
          <a:xfrm>
            <a:off x="1194006" y="6243496"/>
            <a:ext cx="1144853" cy="390291"/>
          </a:xfrm>
          <a:prstGeom prst="rect">
            <a:avLst/>
          </a:prstGeom>
          <a:solidFill>
            <a:srgbClr val="FAFBFC"/>
          </a:solidFill>
        </p:spPr>
      </p:pic>
      <p:sp>
        <p:nvSpPr>
          <p:cNvPr id="2" name="Rectangle: Rounded Corners 1">
            <a:extLst>
              <a:ext uri="{FF2B5EF4-FFF2-40B4-BE49-F238E27FC236}">
                <a16:creationId xmlns:a16="http://schemas.microsoft.com/office/drawing/2014/main" id="{39A6A9E0-8993-0E66-61EA-9DDE756B84DC}"/>
              </a:ext>
            </a:extLst>
          </p:cNvPr>
          <p:cNvSpPr/>
          <p:nvPr/>
        </p:nvSpPr>
        <p:spPr>
          <a:xfrm>
            <a:off x="1252504" y="1690687"/>
            <a:ext cx="3043276" cy="50101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iome" panose="020B0503030204020804" pitchFamily="34" charset="0"/>
                <a:cs typeface="Biome" panose="020B0503030204020804" pitchFamily="34" charset="0"/>
              </a:rPr>
              <a:t>Learning Programme</a:t>
            </a:r>
            <a:endParaRPr lang="en-NG" sz="2000" dirty="0">
              <a:solidFill>
                <a:schemeClr val="tx1"/>
              </a:solidFill>
              <a:latin typeface="Biome" panose="020B0503030204020804" pitchFamily="34" charset="0"/>
              <a:cs typeface="Biome" panose="020B0503030204020804" pitchFamily="34" charset="0"/>
            </a:endParaRPr>
          </a:p>
        </p:txBody>
      </p:sp>
      <p:sp>
        <p:nvSpPr>
          <p:cNvPr id="3" name="Rectangle: Rounded Corners 2">
            <a:extLst>
              <a:ext uri="{FF2B5EF4-FFF2-40B4-BE49-F238E27FC236}">
                <a16:creationId xmlns:a16="http://schemas.microsoft.com/office/drawing/2014/main" id="{EFAB5A16-2233-AE12-EBE5-506FB59113ED}"/>
              </a:ext>
            </a:extLst>
          </p:cNvPr>
          <p:cNvSpPr/>
          <p:nvPr/>
        </p:nvSpPr>
        <p:spPr>
          <a:xfrm>
            <a:off x="12329160" y="1660603"/>
            <a:ext cx="640080" cy="640080"/>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200" dirty="0">
              <a:latin typeface="Biome" panose="020B0503030204020804" pitchFamily="34" charset="0"/>
              <a:cs typeface="Biome" panose="020B0503030204020804" pitchFamily="34" charset="0"/>
            </a:endParaRPr>
          </a:p>
        </p:txBody>
      </p:sp>
      <p:sp>
        <p:nvSpPr>
          <p:cNvPr id="6" name="Rectangle: Rounded Corners 5">
            <a:extLst>
              <a:ext uri="{FF2B5EF4-FFF2-40B4-BE49-F238E27FC236}">
                <a16:creationId xmlns:a16="http://schemas.microsoft.com/office/drawing/2014/main" id="{F362CE14-2F4E-4A68-0F8E-185001C236B8}"/>
              </a:ext>
            </a:extLst>
          </p:cNvPr>
          <p:cNvSpPr/>
          <p:nvPr/>
        </p:nvSpPr>
        <p:spPr>
          <a:xfrm>
            <a:off x="1252504" y="2141646"/>
            <a:ext cx="4305951" cy="55771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Choose from the pool of Univaciti programs and start learning when and how you choose to.</a:t>
            </a:r>
          </a:p>
        </p:txBody>
      </p:sp>
      <p:pic>
        <p:nvPicPr>
          <p:cNvPr id="16" name="Graphic 15" descr="Beaver outline">
            <a:extLst>
              <a:ext uri="{FF2B5EF4-FFF2-40B4-BE49-F238E27FC236}">
                <a16:creationId xmlns:a16="http://schemas.microsoft.com/office/drawing/2014/main" id="{F5588588-2C98-9CD8-FE08-2B8E1F67D6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2741" y="3131866"/>
            <a:ext cx="858348" cy="858348"/>
          </a:xfrm>
          <a:prstGeom prst="rect">
            <a:avLst/>
          </a:prstGeom>
        </p:spPr>
      </p:pic>
      <p:sp>
        <p:nvSpPr>
          <p:cNvPr id="18" name="Rectangle: Rounded Corners 17">
            <a:hlinkClick r:id="rId6" action="ppaction://hlinksldjump"/>
            <a:extLst>
              <a:ext uri="{FF2B5EF4-FFF2-40B4-BE49-F238E27FC236}">
                <a16:creationId xmlns:a16="http://schemas.microsoft.com/office/drawing/2014/main" id="{09A22826-4735-DCB1-7E8D-613DC358DF93}"/>
              </a:ext>
            </a:extLst>
          </p:cNvPr>
          <p:cNvSpPr/>
          <p:nvPr/>
        </p:nvSpPr>
        <p:spPr>
          <a:xfrm>
            <a:off x="2235200" y="4872072"/>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20" name="Rectangle: Rounded Corners 19">
            <a:extLst>
              <a:ext uri="{FF2B5EF4-FFF2-40B4-BE49-F238E27FC236}">
                <a16:creationId xmlns:a16="http://schemas.microsoft.com/office/drawing/2014/main" id="{C997BFC5-8C93-C2FB-9E0F-A707DF612246}"/>
              </a:ext>
            </a:extLst>
          </p:cNvPr>
          <p:cNvSpPr/>
          <p:nvPr/>
        </p:nvSpPr>
        <p:spPr>
          <a:xfrm>
            <a:off x="3151506" y="3071312"/>
            <a:ext cx="1624003" cy="2174648"/>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Startup</a:t>
            </a:r>
          </a:p>
          <a:p>
            <a:r>
              <a:rPr lang="en-US" sz="1200" dirty="0">
                <a:latin typeface="Biome" panose="020B0503030204020804" pitchFamily="34" charset="0"/>
                <a:cs typeface="Biome" panose="020B0503030204020804" pitchFamily="34" charset="0"/>
              </a:rPr>
              <a:t>Accelerator</a:t>
            </a:r>
            <a:endParaRPr lang="en-NG" sz="1200" dirty="0">
              <a:latin typeface="Biome" panose="020B0503030204020804" pitchFamily="34" charset="0"/>
              <a:cs typeface="Biome" panose="020B0503030204020804" pitchFamily="34" charset="0"/>
            </a:endParaRPr>
          </a:p>
        </p:txBody>
      </p:sp>
      <p:sp>
        <p:nvSpPr>
          <p:cNvPr id="28" name="Rectangle: Rounded Corners 27">
            <a:extLst>
              <a:ext uri="{FF2B5EF4-FFF2-40B4-BE49-F238E27FC236}">
                <a16:creationId xmlns:a16="http://schemas.microsoft.com/office/drawing/2014/main" id="{F70655BF-F1CD-BFA1-2FCD-D455BC7055F8}"/>
              </a:ext>
            </a:extLst>
          </p:cNvPr>
          <p:cNvSpPr/>
          <p:nvPr/>
        </p:nvSpPr>
        <p:spPr>
          <a:xfrm>
            <a:off x="3189727" y="3852189"/>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For beginners who need intensive courses in specialized skills</a:t>
            </a:r>
          </a:p>
        </p:txBody>
      </p:sp>
      <p:sp>
        <p:nvSpPr>
          <p:cNvPr id="32" name="Rectangle: Rounded Corners 31">
            <a:extLst>
              <a:ext uri="{FF2B5EF4-FFF2-40B4-BE49-F238E27FC236}">
                <a16:creationId xmlns:a16="http://schemas.microsoft.com/office/drawing/2014/main" id="{58D9D00B-2236-C3BB-E48F-83852FAC014A}"/>
              </a:ext>
            </a:extLst>
          </p:cNvPr>
          <p:cNvSpPr/>
          <p:nvPr/>
        </p:nvSpPr>
        <p:spPr>
          <a:xfrm>
            <a:off x="3982720" y="4875472"/>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pic>
        <p:nvPicPr>
          <p:cNvPr id="13" name="Graphic 12" descr="Acorn outline">
            <a:extLst>
              <a:ext uri="{FF2B5EF4-FFF2-40B4-BE49-F238E27FC236}">
                <a16:creationId xmlns:a16="http://schemas.microsoft.com/office/drawing/2014/main" id="{D8473F06-21AB-6785-9E69-CAF84482B76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83488" y="3124277"/>
            <a:ext cx="840611" cy="840611"/>
          </a:xfrm>
          <a:prstGeom prst="rect">
            <a:avLst/>
          </a:prstGeom>
        </p:spPr>
      </p:pic>
      <p:sp>
        <p:nvSpPr>
          <p:cNvPr id="34" name="Rectangle: Rounded Corners 33">
            <a:extLst>
              <a:ext uri="{FF2B5EF4-FFF2-40B4-BE49-F238E27FC236}">
                <a16:creationId xmlns:a16="http://schemas.microsoft.com/office/drawing/2014/main" id="{8405789B-4103-D15D-2468-9775B6D0A000}"/>
              </a:ext>
            </a:extLst>
          </p:cNvPr>
          <p:cNvSpPr/>
          <p:nvPr/>
        </p:nvSpPr>
        <p:spPr>
          <a:xfrm>
            <a:off x="4879500" y="3064512"/>
            <a:ext cx="1624003" cy="2174648"/>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err="1">
                <a:latin typeface="Biome" panose="020B0503030204020804" pitchFamily="34" charset="0"/>
                <a:cs typeface="Biome" panose="020B0503030204020804" pitchFamily="34" charset="0"/>
              </a:rPr>
              <a:t>Empowa</a:t>
            </a:r>
            <a:endParaRPr lang="en-US" sz="1200" dirty="0">
              <a:latin typeface="Biome" panose="020B0503030204020804" pitchFamily="34" charset="0"/>
              <a:cs typeface="Biome" panose="020B0503030204020804" pitchFamily="34" charset="0"/>
            </a:endParaRP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35" name="Rectangle: Rounded Corners 34">
            <a:extLst>
              <a:ext uri="{FF2B5EF4-FFF2-40B4-BE49-F238E27FC236}">
                <a16:creationId xmlns:a16="http://schemas.microsoft.com/office/drawing/2014/main" id="{5FF39129-B8F4-02CF-D484-C6431390674F}"/>
              </a:ext>
            </a:extLst>
          </p:cNvPr>
          <p:cNvSpPr/>
          <p:nvPr/>
        </p:nvSpPr>
        <p:spPr>
          <a:xfrm>
            <a:off x="4917721" y="3845389"/>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For beginners who need intensive courses in specialized skills</a:t>
            </a:r>
          </a:p>
        </p:txBody>
      </p:sp>
      <p:sp>
        <p:nvSpPr>
          <p:cNvPr id="37" name="Rectangle: Rounded Corners 36">
            <a:extLst>
              <a:ext uri="{FF2B5EF4-FFF2-40B4-BE49-F238E27FC236}">
                <a16:creationId xmlns:a16="http://schemas.microsoft.com/office/drawing/2014/main" id="{06DDCB14-F9C2-6C2B-9BE7-86EB0FD95565}"/>
              </a:ext>
            </a:extLst>
          </p:cNvPr>
          <p:cNvSpPr/>
          <p:nvPr/>
        </p:nvSpPr>
        <p:spPr>
          <a:xfrm>
            <a:off x="5710714" y="4868672"/>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38" name="Rectangle: Rounded Corners 37">
            <a:extLst>
              <a:ext uri="{FF2B5EF4-FFF2-40B4-BE49-F238E27FC236}">
                <a16:creationId xmlns:a16="http://schemas.microsoft.com/office/drawing/2014/main" id="{BC45B196-2718-4720-660B-1F9F558DA5C3}"/>
              </a:ext>
            </a:extLst>
          </p:cNvPr>
          <p:cNvSpPr/>
          <p:nvPr/>
        </p:nvSpPr>
        <p:spPr>
          <a:xfrm>
            <a:off x="6627020" y="3067912"/>
            <a:ext cx="1624003" cy="2174648"/>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T E S A</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39" name="Rectangle: Rounded Corners 38">
            <a:extLst>
              <a:ext uri="{FF2B5EF4-FFF2-40B4-BE49-F238E27FC236}">
                <a16:creationId xmlns:a16="http://schemas.microsoft.com/office/drawing/2014/main" id="{CC07F45E-397B-3773-B9EB-32F7FF02801D}"/>
              </a:ext>
            </a:extLst>
          </p:cNvPr>
          <p:cNvSpPr/>
          <p:nvPr/>
        </p:nvSpPr>
        <p:spPr>
          <a:xfrm>
            <a:off x="6665241" y="3848789"/>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For beginners who need intensive courses in specialized skills</a:t>
            </a:r>
          </a:p>
        </p:txBody>
      </p:sp>
      <p:sp>
        <p:nvSpPr>
          <p:cNvPr id="40" name="Rectangle: Rounded Corners 39">
            <a:extLst>
              <a:ext uri="{FF2B5EF4-FFF2-40B4-BE49-F238E27FC236}">
                <a16:creationId xmlns:a16="http://schemas.microsoft.com/office/drawing/2014/main" id="{57C533C5-857D-9C95-8D2A-D3E60DC20351}"/>
              </a:ext>
            </a:extLst>
          </p:cNvPr>
          <p:cNvSpPr/>
          <p:nvPr/>
        </p:nvSpPr>
        <p:spPr>
          <a:xfrm>
            <a:off x="7458234" y="4872072"/>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42" name="Rectangle: Rounded Corners 41">
            <a:extLst>
              <a:ext uri="{FF2B5EF4-FFF2-40B4-BE49-F238E27FC236}">
                <a16:creationId xmlns:a16="http://schemas.microsoft.com/office/drawing/2014/main" id="{F4EA54E9-84FE-6119-8AAB-C5ECABA626D5}"/>
              </a:ext>
            </a:extLst>
          </p:cNvPr>
          <p:cNvSpPr/>
          <p:nvPr/>
        </p:nvSpPr>
        <p:spPr>
          <a:xfrm>
            <a:off x="8374540" y="3064512"/>
            <a:ext cx="1624003" cy="2174648"/>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T E S A</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43" name="Rectangle: Rounded Corners 42">
            <a:extLst>
              <a:ext uri="{FF2B5EF4-FFF2-40B4-BE49-F238E27FC236}">
                <a16:creationId xmlns:a16="http://schemas.microsoft.com/office/drawing/2014/main" id="{4A3566B3-65FB-F30D-39B0-B0CC9C534A0F}"/>
              </a:ext>
            </a:extLst>
          </p:cNvPr>
          <p:cNvSpPr/>
          <p:nvPr/>
        </p:nvSpPr>
        <p:spPr>
          <a:xfrm>
            <a:off x="8412761" y="3845389"/>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For beginners who need intensive courses in specialized skills</a:t>
            </a:r>
          </a:p>
        </p:txBody>
      </p:sp>
      <p:sp>
        <p:nvSpPr>
          <p:cNvPr id="44" name="Rectangle: Rounded Corners 43">
            <a:extLst>
              <a:ext uri="{FF2B5EF4-FFF2-40B4-BE49-F238E27FC236}">
                <a16:creationId xmlns:a16="http://schemas.microsoft.com/office/drawing/2014/main" id="{EF4F3068-6224-D9DF-FE04-B0BD2AC77F87}"/>
              </a:ext>
            </a:extLst>
          </p:cNvPr>
          <p:cNvSpPr/>
          <p:nvPr/>
        </p:nvSpPr>
        <p:spPr>
          <a:xfrm>
            <a:off x="9205754" y="4868672"/>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pic>
        <p:nvPicPr>
          <p:cNvPr id="47" name="Graphic 46" descr="Chess pieces outline">
            <a:extLst>
              <a:ext uri="{FF2B5EF4-FFF2-40B4-BE49-F238E27FC236}">
                <a16:creationId xmlns:a16="http://schemas.microsoft.com/office/drawing/2014/main" id="{00C1F663-E1D6-8BC5-AD39-A5B14829A90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512040" y="5329096"/>
            <a:ext cx="914400" cy="914400"/>
          </a:xfrm>
          <a:prstGeom prst="rect">
            <a:avLst/>
          </a:prstGeom>
        </p:spPr>
      </p:pic>
      <p:pic>
        <p:nvPicPr>
          <p:cNvPr id="49" name="Graphic 48" descr="Chinese Knot outline">
            <a:extLst>
              <a:ext uri="{FF2B5EF4-FFF2-40B4-BE49-F238E27FC236}">
                <a16:creationId xmlns:a16="http://schemas.microsoft.com/office/drawing/2014/main" id="{66CF9D39-9504-743F-2816-0EF2839D31F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83253" y="3170132"/>
            <a:ext cx="753227" cy="753227"/>
          </a:xfrm>
          <a:prstGeom prst="rect">
            <a:avLst/>
          </a:prstGeom>
        </p:spPr>
      </p:pic>
      <p:pic>
        <p:nvPicPr>
          <p:cNvPr id="51" name="Graphic 50" descr="Circular flowchart with solid fill">
            <a:extLst>
              <a:ext uri="{FF2B5EF4-FFF2-40B4-BE49-F238E27FC236}">
                <a16:creationId xmlns:a16="http://schemas.microsoft.com/office/drawing/2014/main" id="{F05C7F58-F2A0-7330-1F48-550B43FD2BA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192000" y="2272857"/>
            <a:ext cx="914400" cy="914400"/>
          </a:xfrm>
          <a:prstGeom prst="rect">
            <a:avLst/>
          </a:prstGeom>
        </p:spPr>
      </p:pic>
      <p:pic>
        <p:nvPicPr>
          <p:cNvPr id="53" name="Graphic 52" descr="Dolphin outline">
            <a:extLst>
              <a:ext uri="{FF2B5EF4-FFF2-40B4-BE49-F238E27FC236}">
                <a16:creationId xmlns:a16="http://schemas.microsoft.com/office/drawing/2014/main" id="{165A1B0B-CFC5-F05C-FBA4-9E2507C9DA0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38191" y="3170132"/>
            <a:ext cx="820082" cy="820082"/>
          </a:xfrm>
          <a:prstGeom prst="rect">
            <a:avLst/>
          </a:prstGeom>
        </p:spPr>
      </p:pic>
      <p:pic>
        <p:nvPicPr>
          <p:cNvPr id="55" name="Graphic 54" descr="Dove outline">
            <a:extLst>
              <a:ext uri="{FF2B5EF4-FFF2-40B4-BE49-F238E27FC236}">
                <a16:creationId xmlns:a16="http://schemas.microsoft.com/office/drawing/2014/main" id="{859E7B3D-0566-189A-6A03-7A9C4E9F8EF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2512040" y="4391741"/>
            <a:ext cx="914400" cy="914400"/>
          </a:xfrm>
          <a:prstGeom prst="rect">
            <a:avLst/>
          </a:prstGeom>
        </p:spPr>
      </p:pic>
      <p:pic>
        <p:nvPicPr>
          <p:cNvPr id="57" name="Graphic 56" descr="Earth globe: Africa and Europe with solid fill">
            <a:extLst>
              <a:ext uri="{FF2B5EF4-FFF2-40B4-BE49-F238E27FC236}">
                <a16:creationId xmlns:a16="http://schemas.microsoft.com/office/drawing/2014/main" id="{CD6776B3-08D7-8FFC-EE50-47062E38731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645694" y="3153620"/>
            <a:ext cx="814839" cy="814839"/>
          </a:xfrm>
          <a:prstGeom prst="rect">
            <a:avLst/>
          </a:prstGeom>
        </p:spPr>
      </p:pic>
      <p:pic>
        <p:nvPicPr>
          <p:cNvPr id="58" name="Picture 57">
            <a:hlinkClick r:id="rId21" action="ppaction://hlinksldjump"/>
            <a:extLst>
              <a:ext uri="{FF2B5EF4-FFF2-40B4-BE49-F238E27FC236}">
                <a16:creationId xmlns:a16="http://schemas.microsoft.com/office/drawing/2014/main" id="{1B79CBB4-9E21-5B60-E0C3-A4CFFB0F9DD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659065" y="655144"/>
            <a:ext cx="1585782" cy="373379"/>
          </a:xfrm>
          <a:prstGeom prst="rect">
            <a:avLst/>
          </a:prstGeom>
        </p:spPr>
      </p:pic>
      <p:sp>
        <p:nvSpPr>
          <p:cNvPr id="7" name="Rectangle: Rounded Corners 6">
            <a:hlinkClick r:id="rId23" action="ppaction://hlinksldjump"/>
            <a:extLst>
              <a:ext uri="{FF2B5EF4-FFF2-40B4-BE49-F238E27FC236}">
                <a16:creationId xmlns:a16="http://schemas.microsoft.com/office/drawing/2014/main" id="{41B77C7B-6F54-905E-3E7B-9AD296BA476C}"/>
              </a:ext>
            </a:extLst>
          </p:cNvPr>
          <p:cNvSpPr>
            <a:spLocks/>
          </p:cNvSpPr>
          <p:nvPr/>
        </p:nvSpPr>
        <p:spPr>
          <a:xfrm>
            <a:off x="2726975"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Programmes</a:t>
            </a:r>
          </a:p>
        </p:txBody>
      </p:sp>
      <p:sp>
        <p:nvSpPr>
          <p:cNvPr id="8" name="Rectangle: Rounded Corners 7">
            <a:hlinkClick r:id="rId24" action="ppaction://hlinksldjump"/>
            <a:extLst>
              <a:ext uri="{FF2B5EF4-FFF2-40B4-BE49-F238E27FC236}">
                <a16:creationId xmlns:a16="http://schemas.microsoft.com/office/drawing/2014/main" id="{7775EFB1-56F7-F4C1-7A9D-70616885838F}"/>
              </a:ext>
            </a:extLst>
          </p:cNvPr>
          <p:cNvSpPr/>
          <p:nvPr/>
        </p:nvSpPr>
        <p:spPr>
          <a:xfrm>
            <a:off x="4097157"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Certification</a:t>
            </a:r>
          </a:p>
        </p:txBody>
      </p:sp>
      <p:sp>
        <p:nvSpPr>
          <p:cNvPr id="9" name="Rectangle: Rounded Corners 8">
            <a:hlinkClick r:id="rId25" action="ppaction://hlinksldjump"/>
            <a:extLst>
              <a:ext uri="{FF2B5EF4-FFF2-40B4-BE49-F238E27FC236}">
                <a16:creationId xmlns:a16="http://schemas.microsoft.com/office/drawing/2014/main" id="{21555E2E-501C-4FEF-F407-2D16044A759F}"/>
              </a:ext>
            </a:extLst>
          </p:cNvPr>
          <p:cNvSpPr/>
          <p:nvPr/>
        </p:nvSpPr>
        <p:spPr>
          <a:xfrm>
            <a:off x="559786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Recruitment</a:t>
            </a:r>
          </a:p>
        </p:txBody>
      </p:sp>
      <p:sp>
        <p:nvSpPr>
          <p:cNvPr id="10" name="Rectangle: Rounded Corners 9">
            <a:extLst>
              <a:ext uri="{FF2B5EF4-FFF2-40B4-BE49-F238E27FC236}">
                <a16:creationId xmlns:a16="http://schemas.microsoft.com/office/drawing/2014/main" id="{FBA23EDD-7BE4-D323-0674-4F3DE8CCB02C}"/>
              </a:ext>
            </a:extLst>
          </p:cNvPr>
          <p:cNvSpPr/>
          <p:nvPr/>
        </p:nvSpPr>
        <p:spPr>
          <a:xfrm>
            <a:off x="709085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Community</a:t>
            </a:r>
          </a:p>
        </p:txBody>
      </p:sp>
    </p:spTree>
    <p:extLst>
      <p:ext uri="{BB962C8B-B14F-4D97-AF65-F5344CB8AC3E}">
        <p14:creationId xmlns:p14="http://schemas.microsoft.com/office/powerpoint/2010/main" val="106210296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B2D1C-3D00-1CA1-77CE-F45856B6FB8C}"/>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C5F9A3C-E454-6EEF-36D1-532E78B0D0E2}"/>
              </a:ext>
            </a:extLst>
          </p:cNvPr>
          <p:cNvSpPr/>
          <p:nvPr/>
        </p:nvSpPr>
        <p:spPr>
          <a:xfrm>
            <a:off x="1363346" y="34633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Cloud Engineering &amp; Architecture.</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4" name="Rectangle: Rounded Corners 3">
            <a:extLst>
              <a:ext uri="{FF2B5EF4-FFF2-40B4-BE49-F238E27FC236}">
                <a16:creationId xmlns:a16="http://schemas.microsoft.com/office/drawing/2014/main" id="{A3CA9FAB-DC4D-BBA3-108C-B477C96402DD}"/>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46594231-DFAA-C7F2-B8AA-63B46B42769B}"/>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sp>
        <p:nvSpPr>
          <p:cNvPr id="15" name="Rectangle: Rounded Corners 14">
            <a:extLst>
              <a:ext uri="{FF2B5EF4-FFF2-40B4-BE49-F238E27FC236}">
                <a16:creationId xmlns:a16="http://schemas.microsoft.com/office/drawing/2014/main" id="{A65DB366-3F2D-9D05-A8F5-4EB80A01CE96}"/>
              </a:ext>
            </a:extLst>
          </p:cNvPr>
          <p:cNvSpPr/>
          <p:nvPr/>
        </p:nvSpPr>
        <p:spPr>
          <a:xfrm>
            <a:off x="1401567" y="4244197"/>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Choose from the key Hyperscalers and achieve advanced skills,</a:t>
            </a:r>
          </a:p>
        </p:txBody>
      </p:sp>
      <p:pic>
        <p:nvPicPr>
          <p:cNvPr id="30" name="Picture 29">
            <a:extLst>
              <a:ext uri="{FF2B5EF4-FFF2-40B4-BE49-F238E27FC236}">
                <a16:creationId xmlns:a16="http://schemas.microsoft.com/office/drawing/2014/main" id="{CACE4388-FD06-E551-4513-8E8AE52B12C4}"/>
              </a:ext>
            </a:extLst>
          </p:cNvPr>
          <p:cNvPicPr>
            <a:picLocks noChangeAspect="1"/>
          </p:cNvPicPr>
          <p:nvPr/>
        </p:nvPicPr>
        <p:blipFill>
          <a:blip r:embed="rId2"/>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E797A01E-F0DF-A6FD-E892-119AA4AB526C}"/>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pic>
        <p:nvPicPr>
          <p:cNvPr id="33" name="Picture 32">
            <a:extLst>
              <a:ext uri="{FF2B5EF4-FFF2-40B4-BE49-F238E27FC236}">
                <a16:creationId xmlns:a16="http://schemas.microsoft.com/office/drawing/2014/main" id="{A2C11446-2D0A-DA46-2F24-779EFCA3A6A9}"/>
              </a:ext>
            </a:extLst>
          </p:cNvPr>
          <p:cNvPicPr>
            <a:picLocks noChangeAspect="1"/>
          </p:cNvPicPr>
          <p:nvPr/>
        </p:nvPicPr>
        <p:blipFill>
          <a:blip r:embed="rId3"/>
          <a:stretch>
            <a:fillRect/>
          </a:stretch>
        </p:blipFill>
        <p:spPr>
          <a:xfrm>
            <a:off x="1194006" y="6243496"/>
            <a:ext cx="1144853" cy="390291"/>
          </a:xfrm>
          <a:prstGeom prst="rect">
            <a:avLst/>
          </a:prstGeom>
          <a:solidFill>
            <a:srgbClr val="FAFBFC"/>
          </a:solidFill>
        </p:spPr>
      </p:pic>
      <p:sp>
        <p:nvSpPr>
          <p:cNvPr id="2" name="Rectangle: Rounded Corners 1">
            <a:extLst>
              <a:ext uri="{FF2B5EF4-FFF2-40B4-BE49-F238E27FC236}">
                <a16:creationId xmlns:a16="http://schemas.microsoft.com/office/drawing/2014/main" id="{74DB48FD-192B-AEE8-0A69-002C4D323C3C}"/>
              </a:ext>
            </a:extLst>
          </p:cNvPr>
          <p:cNvSpPr/>
          <p:nvPr/>
        </p:nvSpPr>
        <p:spPr>
          <a:xfrm>
            <a:off x="1252504" y="1690687"/>
            <a:ext cx="3586356" cy="50101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iome" panose="020B0503030204020804" pitchFamily="34" charset="0"/>
                <a:cs typeface="Biome" panose="020B0503030204020804" pitchFamily="34" charset="0"/>
              </a:rPr>
              <a:t>Certifications</a:t>
            </a:r>
            <a:endParaRPr lang="en-NG" sz="2000" dirty="0">
              <a:solidFill>
                <a:schemeClr val="tx1"/>
              </a:solidFill>
              <a:latin typeface="Biome" panose="020B0503030204020804" pitchFamily="34" charset="0"/>
              <a:cs typeface="Biome" panose="020B0503030204020804" pitchFamily="34" charset="0"/>
            </a:endParaRPr>
          </a:p>
        </p:txBody>
      </p:sp>
      <p:sp>
        <p:nvSpPr>
          <p:cNvPr id="3" name="Rectangle: Rounded Corners 2">
            <a:extLst>
              <a:ext uri="{FF2B5EF4-FFF2-40B4-BE49-F238E27FC236}">
                <a16:creationId xmlns:a16="http://schemas.microsoft.com/office/drawing/2014/main" id="{7254A439-5583-8710-709A-54BFDC2070CB}"/>
              </a:ext>
            </a:extLst>
          </p:cNvPr>
          <p:cNvSpPr/>
          <p:nvPr/>
        </p:nvSpPr>
        <p:spPr>
          <a:xfrm>
            <a:off x="12329160" y="1780425"/>
            <a:ext cx="640080" cy="640080"/>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200" dirty="0">
              <a:latin typeface="Biome" panose="020B0503030204020804" pitchFamily="34" charset="0"/>
              <a:cs typeface="Biome" panose="020B0503030204020804" pitchFamily="34" charset="0"/>
            </a:endParaRPr>
          </a:p>
        </p:txBody>
      </p:sp>
      <p:sp>
        <p:nvSpPr>
          <p:cNvPr id="6" name="Rectangle: Rounded Corners 5">
            <a:extLst>
              <a:ext uri="{FF2B5EF4-FFF2-40B4-BE49-F238E27FC236}">
                <a16:creationId xmlns:a16="http://schemas.microsoft.com/office/drawing/2014/main" id="{092CD97B-749F-121C-E8E6-9DFFC4B84BBA}"/>
              </a:ext>
            </a:extLst>
          </p:cNvPr>
          <p:cNvSpPr/>
          <p:nvPr/>
        </p:nvSpPr>
        <p:spPr>
          <a:xfrm>
            <a:off x="1252504" y="2196406"/>
            <a:ext cx="8836376" cy="113714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Validate your skillset with Univaciti certification courses.</a:t>
            </a:r>
          </a:p>
          <a:p>
            <a:r>
              <a:rPr lang="en-US" sz="1200" dirty="0">
                <a:solidFill>
                  <a:schemeClr val="tx1"/>
                </a:solidFill>
                <a:latin typeface="Biome" panose="020B0503030204020804" pitchFamily="34" charset="0"/>
                <a:cs typeface="Biome" panose="020B0503030204020804" pitchFamily="34" charset="0"/>
              </a:rPr>
              <a:t>Specializations are in Cloud Engineering, Cloud Solutions Architecture, Software Engineering, AI Solution Architecture &amp; Engineering and Data Analytics.</a:t>
            </a:r>
          </a:p>
          <a:p>
            <a:endParaRPr lang="en-US" sz="1200" dirty="0">
              <a:solidFill>
                <a:schemeClr val="tx1"/>
              </a:solidFill>
              <a:latin typeface="Biome" panose="020B0503030204020804" pitchFamily="34" charset="0"/>
              <a:cs typeface="Biome" panose="020B0503030204020804" pitchFamily="34" charset="0"/>
            </a:endParaRPr>
          </a:p>
          <a:p>
            <a:r>
              <a:rPr lang="en-US" sz="1200" dirty="0">
                <a:solidFill>
                  <a:schemeClr val="tx1"/>
                </a:solidFill>
                <a:latin typeface="Biome" panose="020B0503030204020804" pitchFamily="34" charset="0"/>
                <a:cs typeface="Biome" panose="020B0503030204020804" pitchFamily="34" charset="0"/>
              </a:rPr>
              <a:t>Select a specialization to view the details.</a:t>
            </a:r>
          </a:p>
          <a:p>
            <a:endParaRPr lang="en-US" sz="1200" dirty="0">
              <a:solidFill>
                <a:schemeClr val="tx1"/>
              </a:solidFill>
              <a:latin typeface="Biome" panose="020B0503030204020804" pitchFamily="34" charset="0"/>
              <a:cs typeface="Biome" panose="020B0503030204020804" pitchFamily="34" charset="0"/>
            </a:endParaRPr>
          </a:p>
        </p:txBody>
      </p:sp>
      <p:sp>
        <p:nvSpPr>
          <p:cNvPr id="18" name="Rectangle: Rounded Corners 17">
            <a:hlinkClick r:id="rId4" action="ppaction://hlinksldjump"/>
            <a:extLst>
              <a:ext uri="{FF2B5EF4-FFF2-40B4-BE49-F238E27FC236}">
                <a16:creationId xmlns:a16="http://schemas.microsoft.com/office/drawing/2014/main" id="{1E35D099-7719-27A0-06F8-40155791EEE0}"/>
              </a:ext>
            </a:extLst>
          </p:cNvPr>
          <p:cNvSpPr/>
          <p:nvPr/>
        </p:nvSpPr>
        <p:spPr>
          <a:xfrm>
            <a:off x="2194560" y="5663720"/>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20" name="Rectangle: Rounded Corners 19">
            <a:extLst>
              <a:ext uri="{FF2B5EF4-FFF2-40B4-BE49-F238E27FC236}">
                <a16:creationId xmlns:a16="http://schemas.microsoft.com/office/drawing/2014/main" id="{AE265EC2-85AB-C1D5-1C77-A3EAF311BC62}"/>
              </a:ext>
            </a:extLst>
          </p:cNvPr>
          <p:cNvSpPr/>
          <p:nvPr/>
        </p:nvSpPr>
        <p:spPr>
          <a:xfrm>
            <a:off x="3110866" y="34667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Software Engineering - Backend.</a:t>
            </a:r>
            <a:endParaRPr lang="en-NG" sz="1200" dirty="0">
              <a:latin typeface="Biome" panose="020B0503030204020804" pitchFamily="34" charset="0"/>
              <a:cs typeface="Biome" panose="020B0503030204020804" pitchFamily="34" charset="0"/>
            </a:endParaRPr>
          </a:p>
        </p:txBody>
      </p:sp>
      <p:sp>
        <p:nvSpPr>
          <p:cNvPr id="28" name="Rectangle: Rounded Corners 27">
            <a:extLst>
              <a:ext uri="{FF2B5EF4-FFF2-40B4-BE49-F238E27FC236}">
                <a16:creationId xmlns:a16="http://schemas.microsoft.com/office/drawing/2014/main" id="{1F72ABF5-8F70-0F62-7226-C72AECF01F97}"/>
              </a:ext>
            </a:extLst>
          </p:cNvPr>
          <p:cNvSpPr/>
          <p:nvPr/>
        </p:nvSpPr>
        <p:spPr>
          <a:xfrm>
            <a:off x="3149087" y="4247597"/>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Achieve software engineering mastery with a specialization in React, Java and </a:t>
            </a:r>
            <a:r>
              <a:rPr lang="en-US" sz="1100" dirty="0" err="1">
                <a:solidFill>
                  <a:schemeClr val="bg2"/>
                </a:solidFill>
                <a:latin typeface="Biome" panose="020B0503030204020804" pitchFamily="34" charset="0"/>
                <a:cs typeface="Biome" panose="020B0503030204020804" pitchFamily="34" charset="0"/>
              </a:rPr>
              <a:t>.Net</a:t>
            </a:r>
            <a:r>
              <a:rPr lang="en-US" sz="1100" dirty="0">
                <a:solidFill>
                  <a:schemeClr val="bg2"/>
                </a:solidFill>
                <a:latin typeface="Biome" panose="020B0503030204020804" pitchFamily="34" charset="0"/>
                <a:cs typeface="Biome" panose="020B0503030204020804" pitchFamily="34" charset="0"/>
              </a:rPr>
              <a:t> Skills</a:t>
            </a:r>
          </a:p>
        </p:txBody>
      </p:sp>
      <p:sp>
        <p:nvSpPr>
          <p:cNvPr id="34" name="Rectangle: Rounded Corners 33">
            <a:extLst>
              <a:ext uri="{FF2B5EF4-FFF2-40B4-BE49-F238E27FC236}">
                <a16:creationId xmlns:a16="http://schemas.microsoft.com/office/drawing/2014/main" id="{7EC512EF-E2C3-2DAC-8CAE-28A1C4E0193B}"/>
              </a:ext>
            </a:extLst>
          </p:cNvPr>
          <p:cNvSpPr/>
          <p:nvPr/>
        </p:nvSpPr>
        <p:spPr>
          <a:xfrm>
            <a:off x="4838860" y="34599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Data Analytics.</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35" name="Rectangle: Rounded Corners 34">
            <a:extLst>
              <a:ext uri="{FF2B5EF4-FFF2-40B4-BE49-F238E27FC236}">
                <a16:creationId xmlns:a16="http://schemas.microsoft.com/office/drawing/2014/main" id="{E059381A-CAFE-D68C-9CE0-F9F46F32B827}"/>
              </a:ext>
            </a:extLst>
          </p:cNvPr>
          <p:cNvSpPr/>
          <p:nvPr/>
        </p:nvSpPr>
        <p:spPr>
          <a:xfrm>
            <a:off x="4877080" y="4240797"/>
            <a:ext cx="1582399"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Acquire problem solving skills, with specialization in a domain: Banking, Telecoms, Finance Manufacturing, </a:t>
            </a:r>
            <a:r>
              <a:rPr lang="en-US" sz="1100" dirty="0" err="1">
                <a:solidFill>
                  <a:schemeClr val="bg2"/>
                </a:solidFill>
                <a:latin typeface="Biome" panose="020B0503030204020804" pitchFamily="34" charset="0"/>
                <a:cs typeface="Biome" panose="020B0503030204020804" pitchFamily="34" charset="0"/>
              </a:rPr>
              <a:t>etc</a:t>
            </a:r>
            <a:endParaRPr lang="en-US" sz="1100" dirty="0">
              <a:solidFill>
                <a:schemeClr val="bg2"/>
              </a:solidFill>
              <a:latin typeface="Biome" panose="020B0503030204020804" pitchFamily="34" charset="0"/>
              <a:cs typeface="Biome" panose="020B0503030204020804" pitchFamily="34" charset="0"/>
            </a:endParaRPr>
          </a:p>
        </p:txBody>
      </p:sp>
      <p:sp>
        <p:nvSpPr>
          <p:cNvPr id="38" name="Rectangle: Rounded Corners 37">
            <a:extLst>
              <a:ext uri="{FF2B5EF4-FFF2-40B4-BE49-F238E27FC236}">
                <a16:creationId xmlns:a16="http://schemas.microsoft.com/office/drawing/2014/main" id="{26F14A68-4FD4-47A0-E7F2-CA121B47778F}"/>
              </a:ext>
            </a:extLst>
          </p:cNvPr>
          <p:cNvSpPr/>
          <p:nvPr/>
        </p:nvSpPr>
        <p:spPr>
          <a:xfrm>
            <a:off x="6586380" y="34633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AI &amp; Machine Learning.</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39" name="Rectangle: Rounded Corners 38">
            <a:extLst>
              <a:ext uri="{FF2B5EF4-FFF2-40B4-BE49-F238E27FC236}">
                <a16:creationId xmlns:a16="http://schemas.microsoft.com/office/drawing/2014/main" id="{DB676DB0-B726-668C-4BCA-5C5D94B04B1D}"/>
              </a:ext>
            </a:extLst>
          </p:cNvPr>
          <p:cNvSpPr/>
          <p:nvPr/>
        </p:nvSpPr>
        <p:spPr>
          <a:xfrm>
            <a:off x="6624600" y="4244197"/>
            <a:ext cx="1582399"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Acquire problem solving skills, with specialization in a domain: Banking, Telecoms, Finance Manufacturing, </a:t>
            </a:r>
            <a:r>
              <a:rPr lang="en-US" sz="1100" dirty="0" err="1">
                <a:solidFill>
                  <a:schemeClr val="bg2"/>
                </a:solidFill>
                <a:latin typeface="Biome" panose="020B0503030204020804" pitchFamily="34" charset="0"/>
                <a:cs typeface="Biome" panose="020B0503030204020804" pitchFamily="34" charset="0"/>
              </a:rPr>
              <a:t>etc</a:t>
            </a:r>
            <a:endParaRPr lang="en-US" sz="1100" dirty="0">
              <a:solidFill>
                <a:schemeClr val="bg2"/>
              </a:solidFill>
              <a:latin typeface="Biome" panose="020B0503030204020804" pitchFamily="34" charset="0"/>
              <a:cs typeface="Biome" panose="020B0503030204020804" pitchFamily="34" charset="0"/>
            </a:endParaRPr>
          </a:p>
        </p:txBody>
      </p:sp>
      <p:sp>
        <p:nvSpPr>
          <p:cNvPr id="42" name="Rectangle: Rounded Corners 41">
            <a:extLst>
              <a:ext uri="{FF2B5EF4-FFF2-40B4-BE49-F238E27FC236}">
                <a16:creationId xmlns:a16="http://schemas.microsoft.com/office/drawing/2014/main" id="{5B7EC375-81CB-BB8A-AB6E-FDAC7C9E29F3}"/>
              </a:ext>
            </a:extLst>
          </p:cNvPr>
          <p:cNvSpPr/>
          <p:nvPr/>
        </p:nvSpPr>
        <p:spPr>
          <a:xfrm>
            <a:off x="8333900" y="34599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Software Engineering - Frontend.</a:t>
            </a:r>
          </a:p>
          <a:p>
            <a:endParaRPr lang="en-NG" sz="1200" dirty="0">
              <a:latin typeface="Biome" panose="020B0503030204020804" pitchFamily="34" charset="0"/>
              <a:cs typeface="Biome" panose="020B0503030204020804" pitchFamily="34" charset="0"/>
            </a:endParaRPr>
          </a:p>
        </p:txBody>
      </p:sp>
      <p:sp>
        <p:nvSpPr>
          <p:cNvPr id="43" name="Rectangle: Rounded Corners 42">
            <a:extLst>
              <a:ext uri="{FF2B5EF4-FFF2-40B4-BE49-F238E27FC236}">
                <a16:creationId xmlns:a16="http://schemas.microsoft.com/office/drawing/2014/main" id="{BAD2D0E3-BDC7-93E9-BF00-8C833C9B9F6D}"/>
              </a:ext>
            </a:extLst>
          </p:cNvPr>
          <p:cNvSpPr/>
          <p:nvPr/>
        </p:nvSpPr>
        <p:spPr>
          <a:xfrm>
            <a:off x="8372121" y="4240797"/>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For beginners who need intensive courses in specialized skills</a:t>
            </a:r>
          </a:p>
        </p:txBody>
      </p:sp>
      <p:pic>
        <p:nvPicPr>
          <p:cNvPr id="51" name="Graphic 50" descr="Circular flowchart with solid fill">
            <a:extLst>
              <a:ext uri="{FF2B5EF4-FFF2-40B4-BE49-F238E27FC236}">
                <a16:creationId xmlns:a16="http://schemas.microsoft.com/office/drawing/2014/main" id="{FAAA0472-2A86-CA2B-2434-B8672DC189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92000" y="2420505"/>
            <a:ext cx="914400" cy="914400"/>
          </a:xfrm>
          <a:prstGeom prst="rect">
            <a:avLst/>
          </a:prstGeom>
        </p:spPr>
      </p:pic>
      <p:sp>
        <p:nvSpPr>
          <p:cNvPr id="7" name="Rectangle: Rounded Corners 6">
            <a:hlinkClick r:id="rId4" action="ppaction://hlinksldjump"/>
            <a:extLst>
              <a:ext uri="{FF2B5EF4-FFF2-40B4-BE49-F238E27FC236}">
                <a16:creationId xmlns:a16="http://schemas.microsoft.com/office/drawing/2014/main" id="{968BC74A-D712-9D45-D7D9-80A225D85E99}"/>
              </a:ext>
            </a:extLst>
          </p:cNvPr>
          <p:cNvSpPr/>
          <p:nvPr/>
        </p:nvSpPr>
        <p:spPr>
          <a:xfrm>
            <a:off x="3967889" y="5666035"/>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9" name="Rectangle: Rounded Corners 8">
            <a:hlinkClick r:id="rId4" action="ppaction://hlinksldjump"/>
            <a:extLst>
              <a:ext uri="{FF2B5EF4-FFF2-40B4-BE49-F238E27FC236}">
                <a16:creationId xmlns:a16="http://schemas.microsoft.com/office/drawing/2014/main" id="{8E5E1A52-840E-082B-804C-1A64B6A59176}"/>
              </a:ext>
            </a:extLst>
          </p:cNvPr>
          <p:cNvSpPr/>
          <p:nvPr/>
        </p:nvSpPr>
        <p:spPr>
          <a:xfrm>
            <a:off x="5650861" y="5663720"/>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10" name="Rectangle: Rounded Corners 9">
            <a:hlinkClick r:id="rId4" action="ppaction://hlinksldjump"/>
            <a:extLst>
              <a:ext uri="{FF2B5EF4-FFF2-40B4-BE49-F238E27FC236}">
                <a16:creationId xmlns:a16="http://schemas.microsoft.com/office/drawing/2014/main" id="{70ED2E7B-2DA3-ADAC-2C55-A2E68CF16D84}"/>
              </a:ext>
            </a:extLst>
          </p:cNvPr>
          <p:cNvSpPr/>
          <p:nvPr/>
        </p:nvSpPr>
        <p:spPr>
          <a:xfrm>
            <a:off x="7393161" y="5693115"/>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12" name="Rectangle: Rounded Corners 11">
            <a:hlinkClick r:id="rId4" action="ppaction://hlinksldjump"/>
            <a:extLst>
              <a:ext uri="{FF2B5EF4-FFF2-40B4-BE49-F238E27FC236}">
                <a16:creationId xmlns:a16="http://schemas.microsoft.com/office/drawing/2014/main" id="{4287DB2C-0CA8-609E-3470-9CA3572818A8}"/>
              </a:ext>
            </a:extLst>
          </p:cNvPr>
          <p:cNvSpPr/>
          <p:nvPr/>
        </p:nvSpPr>
        <p:spPr>
          <a:xfrm>
            <a:off x="9180763" y="5648656"/>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pic>
        <p:nvPicPr>
          <p:cNvPr id="13" name="Picture 12">
            <a:hlinkClick r:id="rId7" action="ppaction://hlinksldjump"/>
            <a:extLst>
              <a:ext uri="{FF2B5EF4-FFF2-40B4-BE49-F238E27FC236}">
                <a16:creationId xmlns:a16="http://schemas.microsoft.com/office/drawing/2014/main" id="{31238179-0BB1-DAA3-45D2-94279816BF1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6665" y="502744"/>
            <a:ext cx="1585782" cy="373379"/>
          </a:xfrm>
          <a:prstGeom prst="rect">
            <a:avLst/>
          </a:prstGeom>
        </p:spPr>
      </p:pic>
      <p:sp>
        <p:nvSpPr>
          <p:cNvPr id="8" name="Rectangle: Rounded Corners 7">
            <a:hlinkClick r:id="rId9" action="ppaction://hlinksldjump"/>
            <a:extLst>
              <a:ext uri="{FF2B5EF4-FFF2-40B4-BE49-F238E27FC236}">
                <a16:creationId xmlns:a16="http://schemas.microsoft.com/office/drawing/2014/main" id="{5ACA61EE-AEFB-0781-E63E-EBA67C6601E9}"/>
              </a:ext>
            </a:extLst>
          </p:cNvPr>
          <p:cNvSpPr>
            <a:spLocks/>
          </p:cNvSpPr>
          <p:nvPr/>
        </p:nvSpPr>
        <p:spPr>
          <a:xfrm>
            <a:off x="2726975"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Programmes</a:t>
            </a:r>
          </a:p>
        </p:txBody>
      </p:sp>
      <p:sp>
        <p:nvSpPr>
          <p:cNvPr id="14" name="Rectangle: Rounded Corners 13">
            <a:hlinkClick r:id="rId10" action="ppaction://hlinksldjump"/>
            <a:extLst>
              <a:ext uri="{FF2B5EF4-FFF2-40B4-BE49-F238E27FC236}">
                <a16:creationId xmlns:a16="http://schemas.microsoft.com/office/drawing/2014/main" id="{4DE9E229-74B7-14A9-9BF8-6DA60899A664}"/>
              </a:ext>
            </a:extLst>
          </p:cNvPr>
          <p:cNvSpPr/>
          <p:nvPr/>
        </p:nvSpPr>
        <p:spPr>
          <a:xfrm>
            <a:off x="4097157"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Certification</a:t>
            </a:r>
          </a:p>
        </p:txBody>
      </p:sp>
      <p:sp>
        <p:nvSpPr>
          <p:cNvPr id="16" name="Rectangle: Rounded Corners 15">
            <a:hlinkClick r:id="rId11" action="ppaction://hlinksldjump"/>
            <a:extLst>
              <a:ext uri="{FF2B5EF4-FFF2-40B4-BE49-F238E27FC236}">
                <a16:creationId xmlns:a16="http://schemas.microsoft.com/office/drawing/2014/main" id="{54F1E423-1A01-30C2-EDF4-648BF78FB608}"/>
              </a:ext>
            </a:extLst>
          </p:cNvPr>
          <p:cNvSpPr/>
          <p:nvPr/>
        </p:nvSpPr>
        <p:spPr>
          <a:xfrm>
            <a:off x="559786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Recruitment</a:t>
            </a:r>
          </a:p>
        </p:txBody>
      </p:sp>
      <p:sp>
        <p:nvSpPr>
          <p:cNvPr id="17" name="Rectangle: Rounded Corners 16">
            <a:extLst>
              <a:ext uri="{FF2B5EF4-FFF2-40B4-BE49-F238E27FC236}">
                <a16:creationId xmlns:a16="http://schemas.microsoft.com/office/drawing/2014/main" id="{1DEA6579-8E8E-C307-EA90-6EC947613FFC}"/>
              </a:ext>
            </a:extLst>
          </p:cNvPr>
          <p:cNvSpPr/>
          <p:nvPr/>
        </p:nvSpPr>
        <p:spPr>
          <a:xfrm>
            <a:off x="709085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Community</a:t>
            </a:r>
          </a:p>
        </p:txBody>
      </p:sp>
    </p:spTree>
    <p:extLst>
      <p:ext uri="{BB962C8B-B14F-4D97-AF65-F5344CB8AC3E}">
        <p14:creationId xmlns:p14="http://schemas.microsoft.com/office/powerpoint/2010/main" val="110739243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90000"/>
            <a:alpha val="37000"/>
          </a:schemeClr>
        </a:solidFill>
        <a:effectLst/>
      </p:bgPr>
    </p:bg>
    <p:spTree>
      <p:nvGrpSpPr>
        <p:cNvPr id="1" name="">
          <a:extLst>
            <a:ext uri="{FF2B5EF4-FFF2-40B4-BE49-F238E27FC236}">
              <a16:creationId xmlns:a16="http://schemas.microsoft.com/office/drawing/2014/main" id="{EBF051D5-9B17-5ACC-FEC7-949964E04C6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51463FC-891A-027B-3847-D289D3C6C435}"/>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4B8BAD88-2D89-2512-2062-FF512FFC24FD}"/>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pic>
        <p:nvPicPr>
          <p:cNvPr id="30" name="Picture 29">
            <a:extLst>
              <a:ext uri="{FF2B5EF4-FFF2-40B4-BE49-F238E27FC236}">
                <a16:creationId xmlns:a16="http://schemas.microsoft.com/office/drawing/2014/main" id="{3A9700DB-2A75-03B5-D05D-AD8CFC215774}"/>
              </a:ext>
            </a:extLst>
          </p:cNvPr>
          <p:cNvPicPr>
            <a:picLocks noChangeAspect="1"/>
          </p:cNvPicPr>
          <p:nvPr/>
        </p:nvPicPr>
        <p:blipFill>
          <a:blip r:embed="rId2"/>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F4BAE292-9BB3-ED69-7899-6EF8EA2B6110}"/>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sp>
        <p:nvSpPr>
          <p:cNvPr id="2" name="Rectangle: Rounded Corners 1">
            <a:extLst>
              <a:ext uri="{FF2B5EF4-FFF2-40B4-BE49-F238E27FC236}">
                <a16:creationId xmlns:a16="http://schemas.microsoft.com/office/drawing/2014/main" id="{80FB6B85-9EE7-BFE4-F616-FCA646FCFED7}"/>
              </a:ext>
            </a:extLst>
          </p:cNvPr>
          <p:cNvSpPr/>
          <p:nvPr/>
        </p:nvSpPr>
        <p:spPr>
          <a:xfrm>
            <a:off x="1252504" y="1690687"/>
            <a:ext cx="3043276" cy="50101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iome" panose="020B0503030204020804" pitchFamily="34" charset="0"/>
                <a:cs typeface="Biome" panose="020B0503030204020804" pitchFamily="34" charset="0"/>
              </a:rPr>
              <a:t>Recruiters</a:t>
            </a:r>
            <a:endParaRPr lang="en-NG" sz="2000" dirty="0">
              <a:solidFill>
                <a:schemeClr val="tx1"/>
              </a:solidFill>
              <a:latin typeface="Biome" panose="020B0503030204020804" pitchFamily="34" charset="0"/>
              <a:cs typeface="Biome" panose="020B0503030204020804" pitchFamily="34" charset="0"/>
            </a:endParaRPr>
          </a:p>
        </p:txBody>
      </p:sp>
      <p:sp>
        <p:nvSpPr>
          <p:cNvPr id="3" name="Rectangle: Rounded Corners 2">
            <a:extLst>
              <a:ext uri="{FF2B5EF4-FFF2-40B4-BE49-F238E27FC236}">
                <a16:creationId xmlns:a16="http://schemas.microsoft.com/office/drawing/2014/main" id="{9FD41B05-8C3D-B303-4254-08946C804B6A}"/>
              </a:ext>
            </a:extLst>
          </p:cNvPr>
          <p:cNvSpPr/>
          <p:nvPr/>
        </p:nvSpPr>
        <p:spPr>
          <a:xfrm>
            <a:off x="12192000" y="1780426"/>
            <a:ext cx="640080" cy="640080"/>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200" dirty="0">
              <a:latin typeface="Biome" panose="020B0503030204020804" pitchFamily="34" charset="0"/>
              <a:cs typeface="Biome" panose="020B0503030204020804" pitchFamily="34" charset="0"/>
            </a:endParaRPr>
          </a:p>
        </p:txBody>
      </p:sp>
      <p:sp>
        <p:nvSpPr>
          <p:cNvPr id="6" name="Rectangle: Rounded Corners 5">
            <a:extLst>
              <a:ext uri="{FF2B5EF4-FFF2-40B4-BE49-F238E27FC236}">
                <a16:creationId xmlns:a16="http://schemas.microsoft.com/office/drawing/2014/main" id="{9B6DB7DC-EA5C-49C2-9B6C-8C06C87A8F10}"/>
              </a:ext>
            </a:extLst>
          </p:cNvPr>
          <p:cNvSpPr/>
          <p:nvPr/>
        </p:nvSpPr>
        <p:spPr>
          <a:xfrm>
            <a:off x="1252504" y="2141646"/>
            <a:ext cx="6377656" cy="70981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Join the growing list of recruiters, have access to the pool of exceptional Univaciti graduates, get alerted by new additions to the pool. Track talents of interest, track skills of interest.</a:t>
            </a:r>
          </a:p>
        </p:txBody>
      </p:sp>
      <p:pic>
        <p:nvPicPr>
          <p:cNvPr id="47" name="Graphic 46" descr="Chess pieces outline">
            <a:extLst>
              <a:ext uri="{FF2B5EF4-FFF2-40B4-BE49-F238E27FC236}">
                <a16:creationId xmlns:a16="http://schemas.microsoft.com/office/drawing/2014/main" id="{754B69E7-99D5-E6F5-EE27-B769F6032C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31510" y="4921013"/>
            <a:ext cx="914400" cy="914400"/>
          </a:xfrm>
          <a:prstGeom prst="rect">
            <a:avLst/>
          </a:prstGeom>
        </p:spPr>
      </p:pic>
      <p:pic>
        <p:nvPicPr>
          <p:cNvPr id="51" name="Graphic 50" descr="Circular flowchart with solid fill">
            <a:extLst>
              <a:ext uri="{FF2B5EF4-FFF2-40B4-BE49-F238E27FC236}">
                <a16:creationId xmlns:a16="http://schemas.microsoft.com/office/drawing/2014/main" id="{1AF94AEA-6885-4DB7-C6DD-5BCA1CE21A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54840" y="2443461"/>
            <a:ext cx="914400" cy="914400"/>
          </a:xfrm>
          <a:prstGeom prst="rect">
            <a:avLst/>
          </a:prstGeom>
        </p:spPr>
      </p:pic>
      <p:pic>
        <p:nvPicPr>
          <p:cNvPr id="55" name="Graphic 54" descr="Dove outline">
            <a:extLst>
              <a:ext uri="{FF2B5EF4-FFF2-40B4-BE49-F238E27FC236}">
                <a16:creationId xmlns:a16="http://schemas.microsoft.com/office/drawing/2014/main" id="{B3606717-3578-EBB1-98D6-0AB4771AA1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231510" y="3983658"/>
            <a:ext cx="914400" cy="914400"/>
          </a:xfrm>
          <a:prstGeom prst="rect">
            <a:avLst/>
          </a:prstGeom>
        </p:spPr>
      </p:pic>
      <p:sp>
        <p:nvSpPr>
          <p:cNvPr id="7" name="Rectangle: Rounded Corners 6">
            <a:extLst>
              <a:ext uri="{FF2B5EF4-FFF2-40B4-BE49-F238E27FC236}">
                <a16:creationId xmlns:a16="http://schemas.microsoft.com/office/drawing/2014/main" id="{BD779C2D-F1EC-0A3F-B5C5-E6C951CF17EB}"/>
              </a:ext>
            </a:extLst>
          </p:cNvPr>
          <p:cNvSpPr/>
          <p:nvPr/>
        </p:nvSpPr>
        <p:spPr>
          <a:xfrm>
            <a:off x="1299556" y="3006265"/>
            <a:ext cx="886188" cy="345154"/>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atin typeface="Biome" panose="020B0503030204020804" pitchFamily="34" charset="0"/>
                <a:cs typeface="Biome" panose="020B0503030204020804" pitchFamily="34" charset="0"/>
              </a:rPr>
              <a:t>Register</a:t>
            </a:r>
            <a:endParaRPr lang="en-NG" sz="1100" dirty="0">
              <a:latin typeface="Biome" panose="020B0503030204020804" pitchFamily="34" charset="0"/>
              <a:cs typeface="Biome" panose="020B0503030204020804" pitchFamily="34" charset="0"/>
            </a:endParaRPr>
          </a:p>
        </p:txBody>
      </p:sp>
      <p:pic>
        <p:nvPicPr>
          <p:cNvPr id="9" name="Picture 8">
            <a:extLst>
              <a:ext uri="{FF2B5EF4-FFF2-40B4-BE49-F238E27FC236}">
                <a16:creationId xmlns:a16="http://schemas.microsoft.com/office/drawing/2014/main" id="{31156AD7-BF67-6BBA-AC52-2152D5FEEE80}"/>
              </a:ext>
            </a:extLst>
          </p:cNvPr>
          <p:cNvPicPr>
            <a:picLocks noChangeAspect="1"/>
          </p:cNvPicPr>
          <p:nvPr/>
        </p:nvPicPr>
        <p:blipFill>
          <a:blip r:embed="rId9"/>
          <a:stretch>
            <a:fillRect/>
          </a:stretch>
        </p:blipFill>
        <p:spPr>
          <a:xfrm>
            <a:off x="1358439" y="3930424"/>
            <a:ext cx="681126" cy="681126"/>
          </a:xfrm>
          <a:prstGeom prst="rect">
            <a:avLst/>
          </a:prstGeom>
        </p:spPr>
      </p:pic>
      <p:pic>
        <p:nvPicPr>
          <p:cNvPr id="10" name="Picture 9">
            <a:extLst>
              <a:ext uri="{FF2B5EF4-FFF2-40B4-BE49-F238E27FC236}">
                <a16:creationId xmlns:a16="http://schemas.microsoft.com/office/drawing/2014/main" id="{CE920EBA-82FF-7B49-F94F-0B8C9B36A56D}"/>
              </a:ext>
            </a:extLst>
          </p:cNvPr>
          <p:cNvPicPr>
            <a:picLocks noChangeAspect="1"/>
          </p:cNvPicPr>
          <p:nvPr/>
        </p:nvPicPr>
        <p:blipFill>
          <a:blip r:embed="rId10"/>
          <a:srcRect r="3452" b="45880"/>
          <a:stretch>
            <a:fillRect/>
          </a:stretch>
        </p:blipFill>
        <p:spPr>
          <a:xfrm>
            <a:off x="3955217" y="3950931"/>
            <a:ext cx="681126" cy="721278"/>
          </a:xfrm>
          <a:prstGeom prst="rect">
            <a:avLst/>
          </a:prstGeom>
        </p:spPr>
      </p:pic>
      <p:pic>
        <p:nvPicPr>
          <p:cNvPr id="17" name="Picture 16">
            <a:extLst>
              <a:ext uri="{FF2B5EF4-FFF2-40B4-BE49-F238E27FC236}">
                <a16:creationId xmlns:a16="http://schemas.microsoft.com/office/drawing/2014/main" id="{5C2CCB92-2C96-E0F1-EB8C-18A72E27089C}"/>
              </a:ext>
            </a:extLst>
          </p:cNvPr>
          <p:cNvPicPr>
            <a:picLocks noChangeAspect="1"/>
          </p:cNvPicPr>
          <p:nvPr/>
        </p:nvPicPr>
        <p:blipFill>
          <a:blip r:embed="rId11"/>
          <a:stretch>
            <a:fillRect/>
          </a:stretch>
        </p:blipFill>
        <p:spPr>
          <a:xfrm>
            <a:off x="5103799" y="3946477"/>
            <a:ext cx="797011" cy="665073"/>
          </a:xfrm>
          <a:prstGeom prst="roundRect">
            <a:avLst>
              <a:gd name="adj" fmla="val 50000"/>
            </a:avLst>
          </a:prstGeom>
        </p:spPr>
      </p:pic>
      <p:pic>
        <p:nvPicPr>
          <p:cNvPr id="19" name="Picture 18">
            <a:extLst>
              <a:ext uri="{FF2B5EF4-FFF2-40B4-BE49-F238E27FC236}">
                <a16:creationId xmlns:a16="http://schemas.microsoft.com/office/drawing/2014/main" id="{EB136EFE-9657-19A4-8009-4F2AFE61580B}"/>
              </a:ext>
            </a:extLst>
          </p:cNvPr>
          <p:cNvPicPr>
            <a:picLocks noChangeAspect="1"/>
          </p:cNvPicPr>
          <p:nvPr/>
        </p:nvPicPr>
        <p:blipFill>
          <a:blip r:embed="rId12"/>
          <a:stretch>
            <a:fillRect/>
          </a:stretch>
        </p:blipFill>
        <p:spPr>
          <a:xfrm>
            <a:off x="6291192" y="3809231"/>
            <a:ext cx="862978" cy="862978"/>
          </a:xfrm>
          <a:prstGeom prst="rect">
            <a:avLst/>
          </a:prstGeom>
        </p:spPr>
      </p:pic>
      <p:pic>
        <p:nvPicPr>
          <p:cNvPr id="1026" name="Picture 2" descr="Adino Capital – Create. Optimize. Maximize.">
            <a:extLst>
              <a:ext uri="{FF2B5EF4-FFF2-40B4-BE49-F238E27FC236}">
                <a16:creationId xmlns:a16="http://schemas.microsoft.com/office/drawing/2014/main" id="{6A476E11-8CBA-0612-B103-0C03EAF200A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87116" y="3842777"/>
            <a:ext cx="1757195" cy="76877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F1872687-BBBE-6FC1-AE14-70E6CE081492}"/>
              </a:ext>
            </a:extLst>
          </p:cNvPr>
          <p:cNvPicPr>
            <a:picLocks noChangeAspect="1"/>
          </p:cNvPicPr>
          <p:nvPr/>
        </p:nvPicPr>
        <p:blipFill>
          <a:blip r:embed="rId14"/>
          <a:srcRect l="7631" t="9891" r="7982" b="11039"/>
          <a:stretch>
            <a:fillRect/>
          </a:stretch>
        </p:blipFill>
        <p:spPr>
          <a:xfrm>
            <a:off x="7494231" y="3954869"/>
            <a:ext cx="939695" cy="605886"/>
          </a:xfrm>
          <a:prstGeom prst="roundRect">
            <a:avLst>
              <a:gd name="adj" fmla="val 50000"/>
            </a:avLst>
          </a:prstGeom>
        </p:spPr>
      </p:pic>
      <p:pic>
        <p:nvPicPr>
          <p:cNvPr id="1028" name="Picture 4" descr="Union-Bank-logo-2015 – Nigerian Investment Promotion Commission">
            <a:extLst>
              <a:ext uri="{FF2B5EF4-FFF2-40B4-BE49-F238E27FC236}">
                <a16:creationId xmlns:a16="http://schemas.microsoft.com/office/drawing/2014/main" id="{BBE7CB93-0941-BFC8-55C1-1E45873B5F9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35033" y="3983022"/>
            <a:ext cx="1420252" cy="54725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hlinkClick r:id="rId16" action="ppaction://hlinksldjump"/>
            <a:extLst>
              <a:ext uri="{FF2B5EF4-FFF2-40B4-BE49-F238E27FC236}">
                <a16:creationId xmlns:a16="http://schemas.microsoft.com/office/drawing/2014/main" id="{E4B40E57-89A1-7277-3FD5-3D232589F47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06665" y="502744"/>
            <a:ext cx="1585782" cy="373379"/>
          </a:xfrm>
          <a:prstGeom prst="rect">
            <a:avLst/>
          </a:prstGeom>
        </p:spPr>
      </p:pic>
      <p:sp>
        <p:nvSpPr>
          <p:cNvPr id="8" name="Rectangle: Rounded Corners 7">
            <a:hlinkClick r:id="rId18" action="ppaction://hlinksldjump"/>
            <a:extLst>
              <a:ext uri="{FF2B5EF4-FFF2-40B4-BE49-F238E27FC236}">
                <a16:creationId xmlns:a16="http://schemas.microsoft.com/office/drawing/2014/main" id="{8A9E352D-CC1A-B27F-926D-589814E089B8}"/>
              </a:ext>
            </a:extLst>
          </p:cNvPr>
          <p:cNvSpPr>
            <a:spLocks/>
          </p:cNvSpPr>
          <p:nvPr/>
        </p:nvSpPr>
        <p:spPr>
          <a:xfrm>
            <a:off x="2726975"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Programmes</a:t>
            </a:r>
          </a:p>
        </p:txBody>
      </p:sp>
      <p:sp>
        <p:nvSpPr>
          <p:cNvPr id="11" name="Rectangle: Rounded Corners 10">
            <a:hlinkClick r:id="rId19" action="ppaction://hlinksldjump"/>
            <a:extLst>
              <a:ext uri="{FF2B5EF4-FFF2-40B4-BE49-F238E27FC236}">
                <a16:creationId xmlns:a16="http://schemas.microsoft.com/office/drawing/2014/main" id="{57488BF1-2B9C-2194-D021-4D742A983481}"/>
              </a:ext>
            </a:extLst>
          </p:cNvPr>
          <p:cNvSpPr/>
          <p:nvPr/>
        </p:nvSpPr>
        <p:spPr>
          <a:xfrm>
            <a:off x="4097157"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Certification</a:t>
            </a:r>
          </a:p>
        </p:txBody>
      </p:sp>
      <p:sp>
        <p:nvSpPr>
          <p:cNvPr id="12" name="Rectangle: Rounded Corners 11">
            <a:hlinkClick r:id="rId20" action="ppaction://hlinksldjump"/>
            <a:extLst>
              <a:ext uri="{FF2B5EF4-FFF2-40B4-BE49-F238E27FC236}">
                <a16:creationId xmlns:a16="http://schemas.microsoft.com/office/drawing/2014/main" id="{DB918C7E-37A8-CB0E-0D7C-6F0B09FDD498}"/>
              </a:ext>
            </a:extLst>
          </p:cNvPr>
          <p:cNvSpPr/>
          <p:nvPr/>
        </p:nvSpPr>
        <p:spPr>
          <a:xfrm>
            <a:off x="559786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Recruitment</a:t>
            </a:r>
          </a:p>
        </p:txBody>
      </p:sp>
      <p:sp>
        <p:nvSpPr>
          <p:cNvPr id="13" name="Rectangle: Rounded Corners 12">
            <a:extLst>
              <a:ext uri="{FF2B5EF4-FFF2-40B4-BE49-F238E27FC236}">
                <a16:creationId xmlns:a16="http://schemas.microsoft.com/office/drawing/2014/main" id="{8A828694-AB00-1B9B-F4ED-ACB9E3F12C4C}"/>
              </a:ext>
            </a:extLst>
          </p:cNvPr>
          <p:cNvSpPr/>
          <p:nvPr/>
        </p:nvSpPr>
        <p:spPr>
          <a:xfrm>
            <a:off x="709085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Community</a:t>
            </a:r>
          </a:p>
        </p:txBody>
      </p:sp>
    </p:spTree>
    <p:extLst>
      <p:ext uri="{BB962C8B-B14F-4D97-AF65-F5344CB8AC3E}">
        <p14:creationId xmlns:p14="http://schemas.microsoft.com/office/powerpoint/2010/main" val="413481778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D6FD4-DCD1-4B01-FCA6-0E07AD6BCD8E}"/>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5CE0EF0-377C-C9EE-7EAB-DE22BA3D4FDA}"/>
              </a:ext>
            </a:extLst>
          </p:cNvPr>
          <p:cNvSpPr/>
          <p:nvPr/>
        </p:nvSpPr>
        <p:spPr>
          <a:xfrm>
            <a:off x="1363346" y="34633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Cloud Engineering &amp; Architecture.</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4" name="Rectangle: Rounded Corners 3">
            <a:extLst>
              <a:ext uri="{FF2B5EF4-FFF2-40B4-BE49-F238E27FC236}">
                <a16:creationId xmlns:a16="http://schemas.microsoft.com/office/drawing/2014/main" id="{F4DEA93E-8D96-49E0-2F02-FD07BCFE924E}"/>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A176FF17-0EE2-E50B-7710-818649E86DC3}"/>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sp>
        <p:nvSpPr>
          <p:cNvPr id="15" name="Rectangle: Rounded Corners 14">
            <a:extLst>
              <a:ext uri="{FF2B5EF4-FFF2-40B4-BE49-F238E27FC236}">
                <a16:creationId xmlns:a16="http://schemas.microsoft.com/office/drawing/2014/main" id="{8A12808A-EFB9-1ED9-0B14-E4B2909122ED}"/>
              </a:ext>
            </a:extLst>
          </p:cNvPr>
          <p:cNvSpPr/>
          <p:nvPr/>
        </p:nvSpPr>
        <p:spPr>
          <a:xfrm>
            <a:off x="1401567" y="4244197"/>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Choose from the key Hyperscalers and achieve advanced skills,</a:t>
            </a:r>
          </a:p>
        </p:txBody>
      </p:sp>
      <p:pic>
        <p:nvPicPr>
          <p:cNvPr id="30" name="Picture 29">
            <a:extLst>
              <a:ext uri="{FF2B5EF4-FFF2-40B4-BE49-F238E27FC236}">
                <a16:creationId xmlns:a16="http://schemas.microsoft.com/office/drawing/2014/main" id="{56A58418-2261-9C3E-F82D-D56CD9D14512}"/>
              </a:ext>
            </a:extLst>
          </p:cNvPr>
          <p:cNvPicPr>
            <a:picLocks noChangeAspect="1"/>
          </p:cNvPicPr>
          <p:nvPr/>
        </p:nvPicPr>
        <p:blipFill>
          <a:blip r:embed="rId2"/>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65241247-F342-935E-350A-F92D0566DB3A}"/>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pic>
        <p:nvPicPr>
          <p:cNvPr id="33" name="Picture 32">
            <a:extLst>
              <a:ext uri="{FF2B5EF4-FFF2-40B4-BE49-F238E27FC236}">
                <a16:creationId xmlns:a16="http://schemas.microsoft.com/office/drawing/2014/main" id="{673DE037-D2F3-2FE2-DE25-8CA4929B03B1}"/>
              </a:ext>
            </a:extLst>
          </p:cNvPr>
          <p:cNvPicPr>
            <a:picLocks noChangeAspect="1"/>
          </p:cNvPicPr>
          <p:nvPr/>
        </p:nvPicPr>
        <p:blipFill>
          <a:blip r:embed="rId3"/>
          <a:stretch>
            <a:fillRect/>
          </a:stretch>
        </p:blipFill>
        <p:spPr>
          <a:xfrm>
            <a:off x="1194006" y="6243496"/>
            <a:ext cx="1144853" cy="390291"/>
          </a:xfrm>
          <a:prstGeom prst="rect">
            <a:avLst/>
          </a:prstGeom>
          <a:solidFill>
            <a:srgbClr val="FAFBFC"/>
          </a:solidFill>
        </p:spPr>
      </p:pic>
      <p:sp>
        <p:nvSpPr>
          <p:cNvPr id="2" name="Rectangle: Rounded Corners 1">
            <a:extLst>
              <a:ext uri="{FF2B5EF4-FFF2-40B4-BE49-F238E27FC236}">
                <a16:creationId xmlns:a16="http://schemas.microsoft.com/office/drawing/2014/main" id="{EEA9DB02-2E92-5346-2AAB-84CFF7152F72}"/>
              </a:ext>
            </a:extLst>
          </p:cNvPr>
          <p:cNvSpPr/>
          <p:nvPr/>
        </p:nvSpPr>
        <p:spPr>
          <a:xfrm>
            <a:off x="1252504" y="1690687"/>
            <a:ext cx="3043276" cy="50101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iome" panose="020B0503030204020804" pitchFamily="34" charset="0"/>
                <a:cs typeface="Biome" panose="020B0503030204020804" pitchFamily="34" charset="0"/>
              </a:rPr>
              <a:t>T E S A</a:t>
            </a:r>
            <a:endParaRPr lang="en-NG" sz="2000" dirty="0">
              <a:solidFill>
                <a:schemeClr val="tx1"/>
              </a:solidFill>
              <a:latin typeface="Biome" panose="020B0503030204020804" pitchFamily="34" charset="0"/>
              <a:cs typeface="Biome" panose="020B0503030204020804" pitchFamily="34" charset="0"/>
            </a:endParaRPr>
          </a:p>
        </p:txBody>
      </p:sp>
      <p:sp>
        <p:nvSpPr>
          <p:cNvPr id="3" name="Rectangle: Rounded Corners 2">
            <a:extLst>
              <a:ext uri="{FF2B5EF4-FFF2-40B4-BE49-F238E27FC236}">
                <a16:creationId xmlns:a16="http://schemas.microsoft.com/office/drawing/2014/main" id="{A522C686-9DFF-4C2B-A063-BCCFE9C9F512}"/>
              </a:ext>
            </a:extLst>
          </p:cNvPr>
          <p:cNvSpPr/>
          <p:nvPr/>
        </p:nvSpPr>
        <p:spPr>
          <a:xfrm>
            <a:off x="12329160" y="1780425"/>
            <a:ext cx="640080" cy="640080"/>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200" dirty="0">
              <a:latin typeface="Biome" panose="020B0503030204020804" pitchFamily="34" charset="0"/>
              <a:cs typeface="Biome" panose="020B0503030204020804" pitchFamily="34" charset="0"/>
            </a:endParaRPr>
          </a:p>
        </p:txBody>
      </p:sp>
      <p:sp>
        <p:nvSpPr>
          <p:cNvPr id="6" name="Rectangle: Rounded Corners 5">
            <a:extLst>
              <a:ext uri="{FF2B5EF4-FFF2-40B4-BE49-F238E27FC236}">
                <a16:creationId xmlns:a16="http://schemas.microsoft.com/office/drawing/2014/main" id="{DCABFC4D-E130-3A82-2333-699B0921DFD8}"/>
              </a:ext>
            </a:extLst>
          </p:cNvPr>
          <p:cNvSpPr/>
          <p:nvPr/>
        </p:nvSpPr>
        <p:spPr>
          <a:xfrm>
            <a:off x="1252504" y="2129368"/>
            <a:ext cx="8836376" cy="113714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For beginners who need intensive courses in specialized skills.</a:t>
            </a:r>
          </a:p>
          <a:p>
            <a:r>
              <a:rPr lang="en-US" sz="1200" dirty="0">
                <a:solidFill>
                  <a:schemeClr val="tx1"/>
                </a:solidFill>
                <a:latin typeface="Biome" panose="020B0503030204020804" pitchFamily="34" charset="0"/>
                <a:cs typeface="Biome" panose="020B0503030204020804" pitchFamily="34" charset="0"/>
              </a:rPr>
              <a:t>This is 12-week intensive programme, with specializations in Cloud Engineering, Cloud Solutions Architecture, Software Engineering, AI Solution Architecture &amp; Engineering and Data Analytics.</a:t>
            </a:r>
          </a:p>
          <a:p>
            <a:endParaRPr lang="en-US" sz="1200" dirty="0">
              <a:solidFill>
                <a:schemeClr val="tx1"/>
              </a:solidFill>
              <a:latin typeface="Biome" panose="020B0503030204020804" pitchFamily="34" charset="0"/>
              <a:cs typeface="Biome" panose="020B0503030204020804" pitchFamily="34" charset="0"/>
            </a:endParaRPr>
          </a:p>
          <a:p>
            <a:r>
              <a:rPr lang="en-US" sz="1200" dirty="0">
                <a:solidFill>
                  <a:schemeClr val="tx1"/>
                </a:solidFill>
                <a:latin typeface="Biome" panose="020B0503030204020804" pitchFamily="34" charset="0"/>
                <a:cs typeface="Biome" panose="020B0503030204020804" pitchFamily="34" charset="0"/>
              </a:rPr>
              <a:t>Select a specialization to view the details.</a:t>
            </a:r>
          </a:p>
          <a:p>
            <a:endParaRPr lang="en-US" sz="1200" dirty="0">
              <a:solidFill>
                <a:schemeClr val="tx1"/>
              </a:solidFill>
              <a:latin typeface="Biome" panose="020B0503030204020804" pitchFamily="34" charset="0"/>
              <a:cs typeface="Biome" panose="020B0503030204020804" pitchFamily="34" charset="0"/>
            </a:endParaRPr>
          </a:p>
        </p:txBody>
      </p:sp>
      <p:sp>
        <p:nvSpPr>
          <p:cNvPr id="18" name="Rectangle: Rounded Corners 17">
            <a:extLst>
              <a:ext uri="{FF2B5EF4-FFF2-40B4-BE49-F238E27FC236}">
                <a16:creationId xmlns:a16="http://schemas.microsoft.com/office/drawing/2014/main" id="{D6FED003-40CA-30FB-C5D8-474F02E3B4DC}"/>
              </a:ext>
            </a:extLst>
          </p:cNvPr>
          <p:cNvSpPr/>
          <p:nvPr/>
        </p:nvSpPr>
        <p:spPr>
          <a:xfrm>
            <a:off x="2194560" y="5663720"/>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20" name="Rectangle: Rounded Corners 19">
            <a:extLst>
              <a:ext uri="{FF2B5EF4-FFF2-40B4-BE49-F238E27FC236}">
                <a16:creationId xmlns:a16="http://schemas.microsoft.com/office/drawing/2014/main" id="{81036912-6C3F-E074-C7D6-8018CD2C940D}"/>
              </a:ext>
            </a:extLst>
          </p:cNvPr>
          <p:cNvSpPr/>
          <p:nvPr/>
        </p:nvSpPr>
        <p:spPr>
          <a:xfrm>
            <a:off x="3110866" y="34667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Software Engineering - Backend.</a:t>
            </a:r>
            <a:endParaRPr lang="en-NG" sz="1200" dirty="0">
              <a:latin typeface="Biome" panose="020B0503030204020804" pitchFamily="34" charset="0"/>
              <a:cs typeface="Biome" panose="020B0503030204020804" pitchFamily="34" charset="0"/>
            </a:endParaRPr>
          </a:p>
        </p:txBody>
      </p:sp>
      <p:sp>
        <p:nvSpPr>
          <p:cNvPr id="28" name="Rectangle: Rounded Corners 27">
            <a:extLst>
              <a:ext uri="{FF2B5EF4-FFF2-40B4-BE49-F238E27FC236}">
                <a16:creationId xmlns:a16="http://schemas.microsoft.com/office/drawing/2014/main" id="{47BAAD98-D450-B1CE-6C0B-9589DA5B1C8B}"/>
              </a:ext>
            </a:extLst>
          </p:cNvPr>
          <p:cNvSpPr/>
          <p:nvPr/>
        </p:nvSpPr>
        <p:spPr>
          <a:xfrm>
            <a:off x="3149087" y="4247597"/>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Achieve software engineering mastery with a specialization in React, Java and </a:t>
            </a:r>
            <a:r>
              <a:rPr lang="en-US" sz="1100" dirty="0" err="1">
                <a:solidFill>
                  <a:schemeClr val="bg2"/>
                </a:solidFill>
                <a:latin typeface="Biome" panose="020B0503030204020804" pitchFamily="34" charset="0"/>
                <a:cs typeface="Biome" panose="020B0503030204020804" pitchFamily="34" charset="0"/>
              </a:rPr>
              <a:t>.Net</a:t>
            </a:r>
            <a:r>
              <a:rPr lang="en-US" sz="1100" dirty="0">
                <a:solidFill>
                  <a:schemeClr val="bg2"/>
                </a:solidFill>
                <a:latin typeface="Biome" panose="020B0503030204020804" pitchFamily="34" charset="0"/>
                <a:cs typeface="Biome" panose="020B0503030204020804" pitchFamily="34" charset="0"/>
              </a:rPr>
              <a:t> Skills</a:t>
            </a:r>
          </a:p>
        </p:txBody>
      </p:sp>
      <p:sp>
        <p:nvSpPr>
          <p:cNvPr id="34" name="Rectangle: Rounded Corners 33">
            <a:extLst>
              <a:ext uri="{FF2B5EF4-FFF2-40B4-BE49-F238E27FC236}">
                <a16:creationId xmlns:a16="http://schemas.microsoft.com/office/drawing/2014/main" id="{E98006EA-A99E-B5DD-4446-5E2B8323E1FD}"/>
              </a:ext>
            </a:extLst>
          </p:cNvPr>
          <p:cNvSpPr/>
          <p:nvPr/>
        </p:nvSpPr>
        <p:spPr>
          <a:xfrm>
            <a:off x="4838860" y="34599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Data Analytics.</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35" name="Rectangle: Rounded Corners 34">
            <a:extLst>
              <a:ext uri="{FF2B5EF4-FFF2-40B4-BE49-F238E27FC236}">
                <a16:creationId xmlns:a16="http://schemas.microsoft.com/office/drawing/2014/main" id="{11F2BB46-41E5-71D0-D4D1-574AE90C7A94}"/>
              </a:ext>
            </a:extLst>
          </p:cNvPr>
          <p:cNvSpPr/>
          <p:nvPr/>
        </p:nvSpPr>
        <p:spPr>
          <a:xfrm>
            <a:off x="4877080" y="4240797"/>
            <a:ext cx="1582399"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Acquire problem solving skills, with specialization in a domain: Banking, Telecoms, Finance Manufacturing, </a:t>
            </a:r>
            <a:r>
              <a:rPr lang="en-US" sz="1100" dirty="0" err="1">
                <a:solidFill>
                  <a:schemeClr val="bg2"/>
                </a:solidFill>
                <a:latin typeface="Biome" panose="020B0503030204020804" pitchFamily="34" charset="0"/>
                <a:cs typeface="Biome" panose="020B0503030204020804" pitchFamily="34" charset="0"/>
              </a:rPr>
              <a:t>etc</a:t>
            </a:r>
            <a:endParaRPr lang="en-US" sz="1100" dirty="0">
              <a:solidFill>
                <a:schemeClr val="bg2"/>
              </a:solidFill>
              <a:latin typeface="Biome" panose="020B0503030204020804" pitchFamily="34" charset="0"/>
              <a:cs typeface="Biome" panose="020B0503030204020804" pitchFamily="34" charset="0"/>
            </a:endParaRPr>
          </a:p>
        </p:txBody>
      </p:sp>
      <p:sp>
        <p:nvSpPr>
          <p:cNvPr id="38" name="Rectangle: Rounded Corners 37">
            <a:extLst>
              <a:ext uri="{FF2B5EF4-FFF2-40B4-BE49-F238E27FC236}">
                <a16:creationId xmlns:a16="http://schemas.microsoft.com/office/drawing/2014/main" id="{6FB9BAE7-E804-ED80-73DA-DEF35B804D9D}"/>
              </a:ext>
            </a:extLst>
          </p:cNvPr>
          <p:cNvSpPr/>
          <p:nvPr/>
        </p:nvSpPr>
        <p:spPr>
          <a:xfrm>
            <a:off x="6586380" y="34633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AI &amp; Machine Learning.</a:t>
            </a:r>
          </a:p>
          <a:p>
            <a:endParaRPr lang="en-US" sz="1200" dirty="0">
              <a:latin typeface="Biome" panose="020B0503030204020804" pitchFamily="34" charset="0"/>
              <a:cs typeface="Biome" panose="020B0503030204020804" pitchFamily="34" charset="0"/>
            </a:endParaRPr>
          </a:p>
          <a:p>
            <a:endParaRPr lang="en-NG" sz="1200" dirty="0">
              <a:latin typeface="Biome" panose="020B0503030204020804" pitchFamily="34" charset="0"/>
              <a:cs typeface="Biome" panose="020B0503030204020804" pitchFamily="34" charset="0"/>
            </a:endParaRPr>
          </a:p>
        </p:txBody>
      </p:sp>
      <p:sp>
        <p:nvSpPr>
          <p:cNvPr id="39" name="Rectangle: Rounded Corners 38">
            <a:extLst>
              <a:ext uri="{FF2B5EF4-FFF2-40B4-BE49-F238E27FC236}">
                <a16:creationId xmlns:a16="http://schemas.microsoft.com/office/drawing/2014/main" id="{BE0BE18E-2B05-65B0-53FC-3ACC336474BB}"/>
              </a:ext>
            </a:extLst>
          </p:cNvPr>
          <p:cNvSpPr/>
          <p:nvPr/>
        </p:nvSpPr>
        <p:spPr>
          <a:xfrm>
            <a:off x="6624600" y="4244197"/>
            <a:ext cx="1582399"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Acquire problem solving skills, with specialization in a domain: Banking, Telecoms, Finance Manufacturing, </a:t>
            </a:r>
            <a:r>
              <a:rPr lang="en-US" sz="1100" dirty="0" err="1">
                <a:solidFill>
                  <a:schemeClr val="bg2"/>
                </a:solidFill>
                <a:latin typeface="Biome" panose="020B0503030204020804" pitchFamily="34" charset="0"/>
                <a:cs typeface="Biome" panose="020B0503030204020804" pitchFamily="34" charset="0"/>
              </a:rPr>
              <a:t>etc</a:t>
            </a:r>
            <a:endParaRPr lang="en-US" sz="1100" dirty="0">
              <a:solidFill>
                <a:schemeClr val="bg2"/>
              </a:solidFill>
              <a:latin typeface="Biome" panose="020B0503030204020804" pitchFamily="34" charset="0"/>
              <a:cs typeface="Biome" panose="020B0503030204020804" pitchFamily="34" charset="0"/>
            </a:endParaRPr>
          </a:p>
        </p:txBody>
      </p:sp>
      <p:sp>
        <p:nvSpPr>
          <p:cNvPr id="42" name="Rectangle: Rounded Corners 41">
            <a:extLst>
              <a:ext uri="{FF2B5EF4-FFF2-40B4-BE49-F238E27FC236}">
                <a16:creationId xmlns:a16="http://schemas.microsoft.com/office/drawing/2014/main" id="{A87905CE-BD0D-847A-F305-EC1C03F97C95}"/>
              </a:ext>
            </a:extLst>
          </p:cNvPr>
          <p:cNvSpPr/>
          <p:nvPr/>
        </p:nvSpPr>
        <p:spPr>
          <a:xfrm>
            <a:off x="8333900" y="3459920"/>
            <a:ext cx="1624003" cy="2571720"/>
          </a:xfrm>
          <a:prstGeom prst="roundRect">
            <a:avLst>
              <a:gd name="adj" fmla="val 63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latin typeface="Biome" panose="020B0503030204020804" pitchFamily="34" charset="0"/>
                <a:cs typeface="Biome" panose="020B0503030204020804" pitchFamily="34" charset="0"/>
              </a:rPr>
              <a:t>Software Engineering - Frontend.</a:t>
            </a:r>
          </a:p>
          <a:p>
            <a:endParaRPr lang="en-NG" sz="1200" dirty="0">
              <a:latin typeface="Biome" panose="020B0503030204020804" pitchFamily="34" charset="0"/>
              <a:cs typeface="Biome" panose="020B0503030204020804" pitchFamily="34" charset="0"/>
            </a:endParaRPr>
          </a:p>
        </p:txBody>
      </p:sp>
      <p:sp>
        <p:nvSpPr>
          <p:cNvPr id="43" name="Rectangle: Rounded Corners 42">
            <a:extLst>
              <a:ext uri="{FF2B5EF4-FFF2-40B4-BE49-F238E27FC236}">
                <a16:creationId xmlns:a16="http://schemas.microsoft.com/office/drawing/2014/main" id="{BC540826-95AB-24FF-85AD-B3C760D9E22D}"/>
              </a:ext>
            </a:extLst>
          </p:cNvPr>
          <p:cNvSpPr/>
          <p:nvPr/>
        </p:nvSpPr>
        <p:spPr>
          <a:xfrm>
            <a:off x="8372121" y="4240797"/>
            <a:ext cx="1458882" cy="11133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bg2"/>
                </a:solidFill>
                <a:latin typeface="Biome" panose="020B0503030204020804" pitchFamily="34" charset="0"/>
                <a:cs typeface="Biome" panose="020B0503030204020804" pitchFamily="34" charset="0"/>
              </a:rPr>
              <a:t>For beginners who need intensive courses in specialized skills</a:t>
            </a:r>
          </a:p>
        </p:txBody>
      </p:sp>
      <p:pic>
        <p:nvPicPr>
          <p:cNvPr id="51" name="Graphic 50" descr="Circular flowchart with solid fill">
            <a:extLst>
              <a:ext uri="{FF2B5EF4-FFF2-40B4-BE49-F238E27FC236}">
                <a16:creationId xmlns:a16="http://schemas.microsoft.com/office/drawing/2014/main" id="{CF39EBCE-1ABB-48B9-58CF-AAA29506F3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92000" y="2420505"/>
            <a:ext cx="914400" cy="914400"/>
          </a:xfrm>
          <a:prstGeom prst="rect">
            <a:avLst/>
          </a:prstGeom>
        </p:spPr>
      </p:pic>
      <p:sp>
        <p:nvSpPr>
          <p:cNvPr id="7" name="Rectangle: Rounded Corners 6">
            <a:extLst>
              <a:ext uri="{FF2B5EF4-FFF2-40B4-BE49-F238E27FC236}">
                <a16:creationId xmlns:a16="http://schemas.microsoft.com/office/drawing/2014/main" id="{6DFE464D-0EE5-E466-EA0D-C9A119380B28}"/>
              </a:ext>
            </a:extLst>
          </p:cNvPr>
          <p:cNvSpPr/>
          <p:nvPr/>
        </p:nvSpPr>
        <p:spPr>
          <a:xfrm>
            <a:off x="3921760" y="5692557"/>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9" name="Rectangle: Rounded Corners 8">
            <a:extLst>
              <a:ext uri="{FF2B5EF4-FFF2-40B4-BE49-F238E27FC236}">
                <a16:creationId xmlns:a16="http://schemas.microsoft.com/office/drawing/2014/main" id="{514AD297-8A0C-FE73-C653-1D4A48F8326D}"/>
              </a:ext>
            </a:extLst>
          </p:cNvPr>
          <p:cNvSpPr/>
          <p:nvPr/>
        </p:nvSpPr>
        <p:spPr>
          <a:xfrm>
            <a:off x="5593197" y="5662634"/>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10" name="Rectangle: Rounded Corners 9">
            <a:extLst>
              <a:ext uri="{FF2B5EF4-FFF2-40B4-BE49-F238E27FC236}">
                <a16:creationId xmlns:a16="http://schemas.microsoft.com/office/drawing/2014/main" id="{B106B3D8-7FCA-8408-C50D-1CBFCF55144A}"/>
              </a:ext>
            </a:extLst>
          </p:cNvPr>
          <p:cNvSpPr/>
          <p:nvPr/>
        </p:nvSpPr>
        <p:spPr>
          <a:xfrm>
            <a:off x="7415799" y="5675637"/>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sp>
        <p:nvSpPr>
          <p:cNvPr id="12" name="Rectangle: Rounded Corners 11">
            <a:extLst>
              <a:ext uri="{FF2B5EF4-FFF2-40B4-BE49-F238E27FC236}">
                <a16:creationId xmlns:a16="http://schemas.microsoft.com/office/drawing/2014/main" id="{7755CFBA-15D8-0BFC-4C20-C50992C91F07}"/>
              </a:ext>
            </a:extLst>
          </p:cNvPr>
          <p:cNvSpPr/>
          <p:nvPr/>
        </p:nvSpPr>
        <p:spPr>
          <a:xfrm>
            <a:off x="9145901" y="5663719"/>
            <a:ext cx="665889" cy="238155"/>
          </a:xfrm>
          <a:prstGeom prst="roundRect">
            <a:avLst>
              <a:gd name="adj" fmla="val 50000"/>
            </a:avLst>
          </a:prstGeom>
          <a:solidFill>
            <a:srgbClr val="0098DA"/>
          </a:solidFill>
          <a:ln w="0">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Biome" panose="020B0503030204020804" pitchFamily="34" charset="0"/>
                <a:cs typeface="Biome" panose="020B0503030204020804" pitchFamily="34" charset="0"/>
              </a:rPr>
              <a:t>More</a:t>
            </a:r>
            <a:endParaRPr lang="en-NG" sz="1000" dirty="0">
              <a:latin typeface="Biome" panose="020B0503030204020804" pitchFamily="34" charset="0"/>
              <a:cs typeface="Biome" panose="020B0503030204020804" pitchFamily="34" charset="0"/>
            </a:endParaRPr>
          </a:p>
        </p:txBody>
      </p:sp>
      <p:pic>
        <p:nvPicPr>
          <p:cNvPr id="14" name="Picture 13">
            <a:hlinkClick r:id="rId6" action="ppaction://hlinksldjump"/>
            <a:extLst>
              <a:ext uri="{FF2B5EF4-FFF2-40B4-BE49-F238E27FC236}">
                <a16:creationId xmlns:a16="http://schemas.microsoft.com/office/drawing/2014/main" id="{2DEDA5AC-6E22-8B8F-CA8A-58C85648854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6665" y="502744"/>
            <a:ext cx="1585782" cy="373379"/>
          </a:xfrm>
          <a:prstGeom prst="rect">
            <a:avLst/>
          </a:prstGeom>
        </p:spPr>
      </p:pic>
      <p:sp>
        <p:nvSpPr>
          <p:cNvPr id="8" name="Rectangle: Rounded Corners 7">
            <a:hlinkClick r:id="rId8" action="ppaction://hlinksldjump"/>
            <a:extLst>
              <a:ext uri="{FF2B5EF4-FFF2-40B4-BE49-F238E27FC236}">
                <a16:creationId xmlns:a16="http://schemas.microsoft.com/office/drawing/2014/main" id="{72A8BAB6-CDD8-0B53-9FF3-7135E2B3F260}"/>
              </a:ext>
            </a:extLst>
          </p:cNvPr>
          <p:cNvSpPr>
            <a:spLocks/>
          </p:cNvSpPr>
          <p:nvPr/>
        </p:nvSpPr>
        <p:spPr>
          <a:xfrm>
            <a:off x="2726975"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Programmes</a:t>
            </a:r>
          </a:p>
        </p:txBody>
      </p:sp>
      <p:sp>
        <p:nvSpPr>
          <p:cNvPr id="13" name="Rectangle: Rounded Corners 12">
            <a:hlinkClick r:id="rId9" action="ppaction://hlinksldjump"/>
            <a:extLst>
              <a:ext uri="{FF2B5EF4-FFF2-40B4-BE49-F238E27FC236}">
                <a16:creationId xmlns:a16="http://schemas.microsoft.com/office/drawing/2014/main" id="{61BA4171-D3B1-59E7-A55F-BA87954188B2}"/>
              </a:ext>
            </a:extLst>
          </p:cNvPr>
          <p:cNvSpPr/>
          <p:nvPr/>
        </p:nvSpPr>
        <p:spPr>
          <a:xfrm>
            <a:off x="4097157"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Certification</a:t>
            </a:r>
          </a:p>
        </p:txBody>
      </p:sp>
      <p:sp>
        <p:nvSpPr>
          <p:cNvPr id="16" name="Rectangle: Rounded Corners 15">
            <a:hlinkClick r:id="rId10" action="ppaction://hlinksldjump"/>
            <a:extLst>
              <a:ext uri="{FF2B5EF4-FFF2-40B4-BE49-F238E27FC236}">
                <a16:creationId xmlns:a16="http://schemas.microsoft.com/office/drawing/2014/main" id="{E83DD698-3AEC-EC27-4990-EA6B3FC609A1}"/>
              </a:ext>
            </a:extLst>
          </p:cNvPr>
          <p:cNvSpPr/>
          <p:nvPr/>
        </p:nvSpPr>
        <p:spPr>
          <a:xfrm>
            <a:off x="559786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Recruitment</a:t>
            </a:r>
          </a:p>
        </p:txBody>
      </p:sp>
      <p:sp>
        <p:nvSpPr>
          <p:cNvPr id="17" name="Rectangle: Rounded Corners 16">
            <a:extLst>
              <a:ext uri="{FF2B5EF4-FFF2-40B4-BE49-F238E27FC236}">
                <a16:creationId xmlns:a16="http://schemas.microsoft.com/office/drawing/2014/main" id="{824C7F73-FB8F-C6DE-AF2C-FC42D04DE5A9}"/>
              </a:ext>
            </a:extLst>
          </p:cNvPr>
          <p:cNvSpPr/>
          <p:nvPr/>
        </p:nvSpPr>
        <p:spPr>
          <a:xfrm>
            <a:off x="709085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Community</a:t>
            </a:r>
          </a:p>
        </p:txBody>
      </p:sp>
    </p:spTree>
    <p:extLst>
      <p:ext uri="{BB962C8B-B14F-4D97-AF65-F5344CB8AC3E}">
        <p14:creationId xmlns:p14="http://schemas.microsoft.com/office/powerpoint/2010/main" val="372245176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858B0-70AD-BD3C-44FF-699450907CC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8AB60D4-2517-DCA6-B1B2-A1FCC4E22F66}"/>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BE504D8F-D128-9CCA-C165-BFA58DA5C54B}"/>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pic>
        <p:nvPicPr>
          <p:cNvPr id="30" name="Picture 29">
            <a:extLst>
              <a:ext uri="{FF2B5EF4-FFF2-40B4-BE49-F238E27FC236}">
                <a16:creationId xmlns:a16="http://schemas.microsoft.com/office/drawing/2014/main" id="{66333DF8-2D58-A759-BCBD-4F71A2E79B83}"/>
              </a:ext>
            </a:extLst>
          </p:cNvPr>
          <p:cNvPicPr>
            <a:picLocks noChangeAspect="1"/>
          </p:cNvPicPr>
          <p:nvPr/>
        </p:nvPicPr>
        <p:blipFill>
          <a:blip r:embed="rId2"/>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C6484143-82ED-C077-F9B1-78154C1AC47A}"/>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pic>
        <p:nvPicPr>
          <p:cNvPr id="33" name="Picture 32">
            <a:extLst>
              <a:ext uri="{FF2B5EF4-FFF2-40B4-BE49-F238E27FC236}">
                <a16:creationId xmlns:a16="http://schemas.microsoft.com/office/drawing/2014/main" id="{01081833-2F11-31B7-15ED-A5655C6FCC43}"/>
              </a:ext>
            </a:extLst>
          </p:cNvPr>
          <p:cNvPicPr>
            <a:picLocks noChangeAspect="1"/>
          </p:cNvPicPr>
          <p:nvPr/>
        </p:nvPicPr>
        <p:blipFill>
          <a:blip r:embed="rId3"/>
          <a:stretch>
            <a:fillRect/>
          </a:stretch>
        </p:blipFill>
        <p:spPr>
          <a:xfrm>
            <a:off x="686006" y="6131736"/>
            <a:ext cx="1144853" cy="390291"/>
          </a:xfrm>
          <a:prstGeom prst="rect">
            <a:avLst/>
          </a:prstGeom>
          <a:solidFill>
            <a:srgbClr val="FAFBFC"/>
          </a:solidFill>
        </p:spPr>
      </p:pic>
      <p:sp>
        <p:nvSpPr>
          <p:cNvPr id="2" name="Rectangle: Rounded Corners 1">
            <a:extLst>
              <a:ext uri="{FF2B5EF4-FFF2-40B4-BE49-F238E27FC236}">
                <a16:creationId xmlns:a16="http://schemas.microsoft.com/office/drawing/2014/main" id="{B0299974-99D8-6B26-17F5-E912CF811226}"/>
              </a:ext>
            </a:extLst>
          </p:cNvPr>
          <p:cNvSpPr/>
          <p:nvPr/>
        </p:nvSpPr>
        <p:spPr>
          <a:xfrm>
            <a:off x="917224" y="1878542"/>
            <a:ext cx="2617222" cy="373379"/>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Select programme:</a:t>
            </a:r>
            <a:endParaRPr lang="en-NG" sz="1400" dirty="0">
              <a:solidFill>
                <a:schemeClr val="tx1"/>
              </a:solidFill>
              <a:latin typeface="Biome" panose="020B0503030204020804" pitchFamily="34" charset="0"/>
              <a:cs typeface="Biome" panose="020B0503030204020804" pitchFamily="34" charset="0"/>
            </a:endParaRPr>
          </a:p>
        </p:txBody>
      </p:sp>
      <p:sp>
        <p:nvSpPr>
          <p:cNvPr id="3" name="Rectangle: Rounded Corners 2">
            <a:extLst>
              <a:ext uri="{FF2B5EF4-FFF2-40B4-BE49-F238E27FC236}">
                <a16:creationId xmlns:a16="http://schemas.microsoft.com/office/drawing/2014/main" id="{0E16F1AF-F06F-4B25-C73D-F1DB97A27201}"/>
              </a:ext>
            </a:extLst>
          </p:cNvPr>
          <p:cNvSpPr/>
          <p:nvPr/>
        </p:nvSpPr>
        <p:spPr>
          <a:xfrm>
            <a:off x="12329160" y="1780425"/>
            <a:ext cx="640080" cy="640080"/>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200" dirty="0">
              <a:latin typeface="Biome" panose="020B0503030204020804" pitchFamily="34" charset="0"/>
              <a:cs typeface="Biome" panose="020B0503030204020804" pitchFamily="34" charset="0"/>
            </a:endParaRPr>
          </a:p>
        </p:txBody>
      </p:sp>
      <p:pic>
        <p:nvPicPr>
          <p:cNvPr id="51" name="Graphic 50" descr="Circular flowchart with solid fill">
            <a:extLst>
              <a:ext uri="{FF2B5EF4-FFF2-40B4-BE49-F238E27FC236}">
                <a16:creationId xmlns:a16="http://schemas.microsoft.com/office/drawing/2014/main" id="{60E75046-EAF5-FF8D-438C-75B911884D7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92000" y="2420505"/>
            <a:ext cx="914400" cy="914400"/>
          </a:xfrm>
          <a:prstGeom prst="rect">
            <a:avLst/>
          </a:prstGeom>
        </p:spPr>
      </p:pic>
      <p:sp>
        <p:nvSpPr>
          <p:cNvPr id="7" name="Rectangle: Rounded Corners 6">
            <a:extLst>
              <a:ext uri="{FF2B5EF4-FFF2-40B4-BE49-F238E27FC236}">
                <a16:creationId xmlns:a16="http://schemas.microsoft.com/office/drawing/2014/main" id="{8D1415EC-B4E1-78A2-5D81-C2B6497304A1}"/>
              </a:ext>
            </a:extLst>
          </p:cNvPr>
          <p:cNvSpPr/>
          <p:nvPr/>
        </p:nvSpPr>
        <p:spPr>
          <a:xfrm>
            <a:off x="929018" y="2798262"/>
            <a:ext cx="1750197" cy="365760"/>
          </a:xfrm>
          <a:prstGeom prst="roundRect">
            <a:avLst>
              <a:gd name="adj" fmla="val 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latin typeface="Biome" panose="020B0503030204020804" pitchFamily="34" charset="0"/>
                <a:cs typeface="Biome" panose="020B0503030204020804" pitchFamily="34" charset="0"/>
              </a:rPr>
              <a:t>Home</a:t>
            </a:r>
            <a:endParaRPr lang="en-NG" sz="1400" dirty="0">
              <a:solidFill>
                <a:schemeClr val="bg1"/>
              </a:solidFill>
              <a:latin typeface="Biome" panose="020B0503030204020804" pitchFamily="34" charset="0"/>
              <a:cs typeface="Biome" panose="020B0503030204020804" pitchFamily="34" charset="0"/>
            </a:endParaRPr>
          </a:p>
        </p:txBody>
      </p:sp>
      <p:sp>
        <p:nvSpPr>
          <p:cNvPr id="16" name="Rectangle: Rounded Corners 15">
            <a:extLst>
              <a:ext uri="{FF2B5EF4-FFF2-40B4-BE49-F238E27FC236}">
                <a16:creationId xmlns:a16="http://schemas.microsoft.com/office/drawing/2014/main" id="{D68A0B42-A285-0642-0E5A-85238C0A3992}"/>
              </a:ext>
            </a:extLst>
          </p:cNvPr>
          <p:cNvSpPr/>
          <p:nvPr/>
        </p:nvSpPr>
        <p:spPr>
          <a:xfrm>
            <a:off x="929018" y="3182289"/>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latin typeface="Biome" panose="020B0503030204020804" pitchFamily="34" charset="0"/>
                <a:cs typeface="Biome" panose="020B0503030204020804" pitchFamily="34" charset="0"/>
              </a:rPr>
              <a:t>Courses</a:t>
            </a:r>
            <a:endParaRPr lang="en-NG" sz="1400" dirty="0">
              <a:solidFill>
                <a:schemeClr val="tx1"/>
              </a:solidFill>
              <a:latin typeface="Biome" panose="020B0503030204020804" pitchFamily="34" charset="0"/>
              <a:cs typeface="Biome" panose="020B0503030204020804" pitchFamily="34" charset="0"/>
            </a:endParaRPr>
          </a:p>
        </p:txBody>
      </p:sp>
      <p:sp>
        <p:nvSpPr>
          <p:cNvPr id="17" name="Rectangle: Rounded Corners 16">
            <a:extLst>
              <a:ext uri="{FF2B5EF4-FFF2-40B4-BE49-F238E27FC236}">
                <a16:creationId xmlns:a16="http://schemas.microsoft.com/office/drawing/2014/main" id="{51B01F71-3A70-8DCA-50B3-2C8EA1B96CB2}"/>
              </a:ext>
            </a:extLst>
          </p:cNvPr>
          <p:cNvSpPr/>
          <p:nvPr/>
        </p:nvSpPr>
        <p:spPr>
          <a:xfrm>
            <a:off x="3534445" y="1875979"/>
            <a:ext cx="3577553" cy="373379"/>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T E S A</a:t>
            </a:r>
            <a:endParaRPr lang="en-NG" sz="1400" dirty="0">
              <a:solidFill>
                <a:schemeClr val="tx1"/>
              </a:solidFill>
              <a:latin typeface="Biome" panose="020B0503030204020804" pitchFamily="34" charset="0"/>
              <a:cs typeface="Biome" panose="020B0503030204020804" pitchFamily="34" charset="0"/>
            </a:endParaRPr>
          </a:p>
        </p:txBody>
      </p:sp>
      <p:sp>
        <p:nvSpPr>
          <p:cNvPr id="19" name="Isosceles Triangle 18">
            <a:extLst>
              <a:ext uri="{FF2B5EF4-FFF2-40B4-BE49-F238E27FC236}">
                <a16:creationId xmlns:a16="http://schemas.microsoft.com/office/drawing/2014/main" id="{C0721B07-47E9-653F-58F0-FBDFC5D67502}"/>
              </a:ext>
            </a:extLst>
          </p:cNvPr>
          <p:cNvSpPr/>
          <p:nvPr/>
        </p:nvSpPr>
        <p:spPr>
          <a:xfrm rot="10800000">
            <a:off x="6913880" y="2049754"/>
            <a:ext cx="91440" cy="7112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400"/>
          </a:p>
        </p:txBody>
      </p:sp>
      <p:sp>
        <p:nvSpPr>
          <p:cNvPr id="21" name="Rectangle: Rounded Corners 20">
            <a:extLst>
              <a:ext uri="{FF2B5EF4-FFF2-40B4-BE49-F238E27FC236}">
                <a16:creationId xmlns:a16="http://schemas.microsoft.com/office/drawing/2014/main" id="{B883D0AF-9AC3-B7DA-D6D7-929FE3C6A711}"/>
              </a:ext>
            </a:extLst>
          </p:cNvPr>
          <p:cNvSpPr/>
          <p:nvPr/>
        </p:nvSpPr>
        <p:spPr>
          <a:xfrm>
            <a:off x="917224" y="2282711"/>
            <a:ext cx="2617222" cy="319154"/>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Specialization:</a:t>
            </a:r>
            <a:endParaRPr lang="en-NG" sz="1400" dirty="0">
              <a:solidFill>
                <a:schemeClr val="tx1"/>
              </a:solidFill>
              <a:latin typeface="Biome" panose="020B0503030204020804" pitchFamily="34" charset="0"/>
              <a:cs typeface="Biome" panose="020B0503030204020804" pitchFamily="34" charset="0"/>
            </a:endParaRPr>
          </a:p>
        </p:txBody>
      </p:sp>
      <p:sp>
        <p:nvSpPr>
          <p:cNvPr id="22" name="Rectangle: Rounded Corners 21">
            <a:extLst>
              <a:ext uri="{FF2B5EF4-FFF2-40B4-BE49-F238E27FC236}">
                <a16:creationId xmlns:a16="http://schemas.microsoft.com/office/drawing/2014/main" id="{2809EB4E-430E-C83C-BE80-49AF0069E582}"/>
              </a:ext>
            </a:extLst>
          </p:cNvPr>
          <p:cNvSpPr/>
          <p:nvPr/>
        </p:nvSpPr>
        <p:spPr>
          <a:xfrm>
            <a:off x="3534446" y="2280148"/>
            <a:ext cx="3577554" cy="319154"/>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Cloud Engineering</a:t>
            </a:r>
            <a:endParaRPr lang="en-NG" sz="1400" dirty="0">
              <a:solidFill>
                <a:schemeClr val="tx1"/>
              </a:solidFill>
              <a:latin typeface="Biome" panose="020B0503030204020804" pitchFamily="34" charset="0"/>
              <a:cs typeface="Biome" panose="020B0503030204020804" pitchFamily="34" charset="0"/>
            </a:endParaRPr>
          </a:p>
        </p:txBody>
      </p:sp>
      <p:sp>
        <p:nvSpPr>
          <p:cNvPr id="23" name="Isosceles Triangle 22">
            <a:extLst>
              <a:ext uri="{FF2B5EF4-FFF2-40B4-BE49-F238E27FC236}">
                <a16:creationId xmlns:a16="http://schemas.microsoft.com/office/drawing/2014/main" id="{A5C8820B-C965-AD45-65E1-F85A52BA5E44}"/>
              </a:ext>
            </a:extLst>
          </p:cNvPr>
          <p:cNvSpPr/>
          <p:nvPr/>
        </p:nvSpPr>
        <p:spPr>
          <a:xfrm rot="10800000">
            <a:off x="6913880" y="2396393"/>
            <a:ext cx="91440" cy="7112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400"/>
          </a:p>
        </p:txBody>
      </p:sp>
      <p:sp>
        <p:nvSpPr>
          <p:cNvPr id="29" name="Rectangle: Rounded Corners 28">
            <a:extLst>
              <a:ext uri="{FF2B5EF4-FFF2-40B4-BE49-F238E27FC236}">
                <a16:creationId xmlns:a16="http://schemas.microsoft.com/office/drawing/2014/main" id="{EB3291D5-A9CE-C000-9280-20985D7BE204}"/>
              </a:ext>
            </a:extLst>
          </p:cNvPr>
          <p:cNvSpPr/>
          <p:nvPr/>
        </p:nvSpPr>
        <p:spPr>
          <a:xfrm>
            <a:off x="916771" y="3566316"/>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Structure</a:t>
            </a:r>
            <a:endParaRPr lang="en-NG" sz="1400" dirty="0">
              <a:solidFill>
                <a:schemeClr val="tx1"/>
              </a:solidFill>
              <a:latin typeface="Biome" panose="020B0503030204020804" pitchFamily="34" charset="0"/>
              <a:cs typeface="Biome" panose="020B0503030204020804" pitchFamily="34" charset="0"/>
            </a:endParaRPr>
          </a:p>
        </p:txBody>
      </p:sp>
      <p:sp>
        <p:nvSpPr>
          <p:cNvPr id="36" name="Rectangle: Rounded Corners 35">
            <a:extLst>
              <a:ext uri="{FF2B5EF4-FFF2-40B4-BE49-F238E27FC236}">
                <a16:creationId xmlns:a16="http://schemas.microsoft.com/office/drawing/2014/main" id="{D264408E-8868-72FD-783A-7F14B4749D3A}"/>
              </a:ext>
            </a:extLst>
          </p:cNvPr>
          <p:cNvSpPr/>
          <p:nvPr/>
        </p:nvSpPr>
        <p:spPr>
          <a:xfrm>
            <a:off x="916771" y="3960503"/>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Time-Table</a:t>
            </a:r>
            <a:endParaRPr lang="en-NG" sz="1400" dirty="0">
              <a:solidFill>
                <a:schemeClr val="tx1"/>
              </a:solidFill>
              <a:latin typeface="Biome" panose="020B0503030204020804" pitchFamily="34" charset="0"/>
              <a:cs typeface="Biome" panose="020B0503030204020804" pitchFamily="34" charset="0"/>
            </a:endParaRPr>
          </a:p>
        </p:txBody>
      </p:sp>
      <p:sp>
        <p:nvSpPr>
          <p:cNvPr id="41" name="Rectangle: Rounded Corners 40">
            <a:extLst>
              <a:ext uri="{FF2B5EF4-FFF2-40B4-BE49-F238E27FC236}">
                <a16:creationId xmlns:a16="http://schemas.microsoft.com/office/drawing/2014/main" id="{FF20ECDE-CB03-3927-6442-3196F8A64DEB}"/>
              </a:ext>
            </a:extLst>
          </p:cNvPr>
          <p:cNvSpPr/>
          <p:nvPr/>
        </p:nvSpPr>
        <p:spPr>
          <a:xfrm>
            <a:off x="898991" y="4355388"/>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Internship</a:t>
            </a:r>
            <a:endParaRPr lang="en-NG" sz="1400" dirty="0">
              <a:solidFill>
                <a:schemeClr val="tx1"/>
              </a:solidFill>
              <a:latin typeface="Biome" panose="020B0503030204020804" pitchFamily="34" charset="0"/>
              <a:cs typeface="Biome" panose="020B0503030204020804" pitchFamily="34" charset="0"/>
            </a:endParaRPr>
          </a:p>
        </p:txBody>
      </p:sp>
      <p:sp>
        <p:nvSpPr>
          <p:cNvPr id="45" name="Rectangle: Rounded Corners 44">
            <a:extLst>
              <a:ext uri="{FF2B5EF4-FFF2-40B4-BE49-F238E27FC236}">
                <a16:creationId xmlns:a16="http://schemas.microsoft.com/office/drawing/2014/main" id="{52F6023E-01FC-488B-049F-9E975E27DF02}"/>
              </a:ext>
            </a:extLst>
          </p:cNvPr>
          <p:cNvSpPr/>
          <p:nvPr/>
        </p:nvSpPr>
        <p:spPr>
          <a:xfrm>
            <a:off x="898991" y="4739415"/>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Fees</a:t>
            </a:r>
            <a:endParaRPr lang="en-NG" sz="1400" dirty="0">
              <a:solidFill>
                <a:schemeClr val="tx1"/>
              </a:solidFill>
              <a:latin typeface="Biome" panose="020B0503030204020804" pitchFamily="34" charset="0"/>
              <a:cs typeface="Biome" panose="020B0503030204020804" pitchFamily="34" charset="0"/>
            </a:endParaRPr>
          </a:p>
        </p:txBody>
      </p:sp>
      <p:sp>
        <p:nvSpPr>
          <p:cNvPr id="46" name="Rectangle: Rounded Corners 45">
            <a:extLst>
              <a:ext uri="{FF2B5EF4-FFF2-40B4-BE49-F238E27FC236}">
                <a16:creationId xmlns:a16="http://schemas.microsoft.com/office/drawing/2014/main" id="{8CF8A4A8-A08C-B4F2-50A2-8478B7DB8204}"/>
              </a:ext>
            </a:extLst>
          </p:cNvPr>
          <p:cNvSpPr/>
          <p:nvPr/>
        </p:nvSpPr>
        <p:spPr>
          <a:xfrm>
            <a:off x="886744" y="5123442"/>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Funding</a:t>
            </a:r>
            <a:endParaRPr lang="en-NG" sz="1400" dirty="0">
              <a:solidFill>
                <a:schemeClr val="tx1"/>
              </a:solidFill>
              <a:latin typeface="Biome" panose="020B0503030204020804" pitchFamily="34" charset="0"/>
              <a:cs typeface="Biome" panose="020B0503030204020804" pitchFamily="34" charset="0"/>
            </a:endParaRPr>
          </a:p>
        </p:txBody>
      </p:sp>
      <p:sp>
        <p:nvSpPr>
          <p:cNvPr id="48" name="Rectangle: Rounded Corners 47">
            <a:extLst>
              <a:ext uri="{FF2B5EF4-FFF2-40B4-BE49-F238E27FC236}">
                <a16:creationId xmlns:a16="http://schemas.microsoft.com/office/drawing/2014/main" id="{4E5ACFE8-56A4-E4F6-97DD-BB2DD537FD0A}"/>
              </a:ext>
            </a:extLst>
          </p:cNvPr>
          <p:cNvSpPr/>
          <p:nvPr/>
        </p:nvSpPr>
        <p:spPr>
          <a:xfrm>
            <a:off x="2778138" y="2798262"/>
            <a:ext cx="7919889" cy="4353580"/>
          </a:xfrm>
          <a:prstGeom prst="roundRect">
            <a:avLst>
              <a:gd name="adj" fmla="val 1779"/>
            </a:avLst>
          </a:prstGeom>
          <a:solidFill>
            <a:schemeClr val="bg2">
              <a:lumMod val="90000"/>
              <a:alpha val="2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a:solidFill>
                  <a:schemeClr val="tx1"/>
                </a:solidFill>
                <a:latin typeface="Biome" panose="020B0503030204020804" pitchFamily="34" charset="0"/>
                <a:cs typeface="Biome" panose="020B0503030204020804" pitchFamily="34" charset="0"/>
              </a:rPr>
              <a:t>Home</a:t>
            </a:r>
            <a:endParaRPr lang="en-NG" sz="1400" dirty="0">
              <a:solidFill>
                <a:schemeClr val="tx1"/>
              </a:solidFill>
              <a:latin typeface="Biome" panose="020B0503030204020804" pitchFamily="34" charset="0"/>
              <a:cs typeface="Biome" panose="020B0503030204020804" pitchFamily="34" charset="0"/>
            </a:endParaRPr>
          </a:p>
        </p:txBody>
      </p:sp>
      <p:sp>
        <p:nvSpPr>
          <p:cNvPr id="49" name="Rectangle: Rounded Corners 48">
            <a:extLst>
              <a:ext uri="{FF2B5EF4-FFF2-40B4-BE49-F238E27FC236}">
                <a16:creationId xmlns:a16="http://schemas.microsoft.com/office/drawing/2014/main" id="{9E9BF537-CA8E-8F1E-F18B-1CE5B73C0504}"/>
              </a:ext>
            </a:extLst>
          </p:cNvPr>
          <p:cNvSpPr/>
          <p:nvPr/>
        </p:nvSpPr>
        <p:spPr>
          <a:xfrm>
            <a:off x="866280" y="1141699"/>
            <a:ext cx="3043276" cy="50101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98DA"/>
                </a:solidFill>
                <a:latin typeface="Biome" panose="020B0503030204020804" pitchFamily="34" charset="0"/>
                <a:cs typeface="Biome" panose="020B0503030204020804" pitchFamily="34" charset="0"/>
              </a:rPr>
              <a:t>Learning Programme</a:t>
            </a:r>
            <a:endParaRPr lang="en-NG" sz="2000" dirty="0">
              <a:solidFill>
                <a:srgbClr val="0098DA"/>
              </a:solidFill>
              <a:latin typeface="Biome" panose="020B0503030204020804" pitchFamily="34" charset="0"/>
              <a:cs typeface="Biome" panose="020B0503030204020804" pitchFamily="34" charset="0"/>
            </a:endParaRPr>
          </a:p>
        </p:txBody>
      </p:sp>
      <p:pic>
        <p:nvPicPr>
          <p:cNvPr id="50" name="Picture 49">
            <a:hlinkClick r:id="rId6" action="ppaction://hlinksldjump"/>
            <a:extLst>
              <a:ext uri="{FF2B5EF4-FFF2-40B4-BE49-F238E27FC236}">
                <a16:creationId xmlns:a16="http://schemas.microsoft.com/office/drawing/2014/main" id="{AAAD93D8-699F-D54E-1DCB-42A720EA85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6665" y="502744"/>
            <a:ext cx="1585782" cy="373379"/>
          </a:xfrm>
          <a:prstGeom prst="rect">
            <a:avLst/>
          </a:prstGeom>
        </p:spPr>
      </p:pic>
    </p:spTree>
    <p:extLst>
      <p:ext uri="{BB962C8B-B14F-4D97-AF65-F5344CB8AC3E}">
        <p14:creationId xmlns:p14="http://schemas.microsoft.com/office/powerpoint/2010/main" val="328605379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98DA">
            <a:alpha val="7000"/>
          </a:srgbClr>
        </a:solidFill>
        <a:effectLst/>
      </p:bgPr>
    </p:bg>
    <p:spTree>
      <p:nvGrpSpPr>
        <p:cNvPr id="1" name="">
          <a:extLst>
            <a:ext uri="{FF2B5EF4-FFF2-40B4-BE49-F238E27FC236}">
              <a16:creationId xmlns:a16="http://schemas.microsoft.com/office/drawing/2014/main" id="{D60D4B0A-C577-53C2-09D2-DBFB21B5E99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DFC07B8-9218-295A-EDF6-BE67DCED3337}"/>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75424859-B60E-A1DB-7665-BE0A028757EC}"/>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pic>
        <p:nvPicPr>
          <p:cNvPr id="30" name="Picture 29">
            <a:extLst>
              <a:ext uri="{FF2B5EF4-FFF2-40B4-BE49-F238E27FC236}">
                <a16:creationId xmlns:a16="http://schemas.microsoft.com/office/drawing/2014/main" id="{84DF105D-C866-9039-E87B-3D1705A719BD}"/>
              </a:ext>
            </a:extLst>
          </p:cNvPr>
          <p:cNvPicPr>
            <a:picLocks noChangeAspect="1"/>
          </p:cNvPicPr>
          <p:nvPr/>
        </p:nvPicPr>
        <p:blipFill>
          <a:blip r:embed="rId2"/>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784F2694-C589-ED23-A374-2F7BBC1EEB3E}"/>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pic>
        <p:nvPicPr>
          <p:cNvPr id="33" name="Picture 32">
            <a:extLst>
              <a:ext uri="{FF2B5EF4-FFF2-40B4-BE49-F238E27FC236}">
                <a16:creationId xmlns:a16="http://schemas.microsoft.com/office/drawing/2014/main" id="{D708127C-C649-422B-F6F3-B95CA12E8079}"/>
              </a:ext>
            </a:extLst>
          </p:cNvPr>
          <p:cNvPicPr>
            <a:picLocks noChangeAspect="1"/>
          </p:cNvPicPr>
          <p:nvPr/>
        </p:nvPicPr>
        <p:blipFill>
          <a:blip r:embed="rId3"/>
          <a:stretch>
            <a:fillRect/>
          </a:stretch>
        </p:blipFill>
        <p:spPr>
          <a:xfrm>
            <a:off x="686006" y="6131736"/>
            <a:ext cx="1144853" cy="390291"/>
          </a:xfrm>
          <a:prstGeom prst="rect">
            <a:avLst/>
          </a:prstGeom>
          <a:solidFill>
            <a:srgbClr val="FAFBFC"/>
          </a:solidFill>
        </p:spPr>
      </p:pic>
      <p:sp>
        <p:nvSpPr>
          <p:cNvPr id="2" name="Rectangle: Rounded Corners 1">
            <a:extLst>
              <a:ext uri="{FF2B5EF4-FFF2-40B4-BE49-F238E27FC236}">
                <a16:creationId xmlns:a16="http://schemas.microsoft.com/office/drawing/2014/main" id="{18F265F0-C2E6-246F-C655-A1160107A168}"/>
              </a:ext>
            </a:extLst>
          </p:cNvPr>
          <p:cNvSpPr/>
          <p:nvPr/>
        </p:nvSpPr>
        <p:spPr>
          <a:xfrm>
            <a:off x="917224" y="1878542"/>
            <a:ext cx="2617222" cy="373379"/>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Select Skill Type:</a:t>
            </a:r>
            <a:endParaRPr lang="en-NG" sz="1400" dirty="0">
              <a:solidFill>
                <a:schemeClr val="tx1"/>
              </a:solidFill>
              <a:latin typeface="Biome" panose="020B0503030204020804" pitchFamily="34" charset="0"/>
              <a:cs typeface="Biome" panose="020B0503030204020804" pitchFamily="34" charset="0"/>
            </a:endParaRPr>
          </a:p>
        </p:txBody>
      </p:sp>
      <p:sp>
        <p:nvSpPr>
          <p:cNvPr id="3" name="Rectangle: Rounded Corners 2">
            <a:extLst>
              <a:ext uri="{FF2B5EF4-FFF2-40B4-BE49-F238E27FC236}">
                <a16:creationId xmlns:a16="http://schemas.microsoft.com/office/drawing/2014/main" id="{8E393E50-441E-F080-6545-4CF7C36D1E28}"/>
              </a:ext>
            </a:extLst>
          </p:cNvPr>
          <p:cNvSpPr/>
          <p:nvPr/>
        </p:nvSpPr>
        <p:spPr>
          <a:xfrm>
            <a:off x="12329160" y="1780425"/>
            <a:ext cx="640080" cy="640080"/>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200" dirty="0">
              <a:latin typeface="Biome" panose="020B0503030204020804" pitchFamily="34" charset="0"/>
              <a:cs typeface="Biome" panose="020B0503030204020804" pitchFamily="34" charset="0"/>
            </a:endParaRPr>
          </a:p>
        </p:txBody>
      </p:sp>
      <p:pic>
        <p:nvPicPr>
          <p:cNvPr id="51" name="Graphic 50" descr="Circular flowchart with solid fill">
            <a:extLst>
              <a:ext uri="{FF2B5EF4-FFF2-40B4-BE49-F238E27FC236}">
                <a16:creationId xmlns:a16="http://schemas.microsoft.com/office/drawing/2014/main" id="{E92D2737-84BB-E32F-7C6F-AB1EC5C718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92000" y="2420505"/>
            <a:ext cx="914400" cy="914400"/>
          </a:xfrm>
          <a:prstGeom prst="rect">
            <a:avLst/>
          </a:prstGeom>
        </p:spPr>
      </p:pic>
      <p:sp>
        <p:nvSpPr>
          <p:cNvPr id="7" name="Rectangle: Rounded Corners 6">
            <a:extLst>
              <a:ext uri="{FF2B5EF4-FFF2-40B4-BE49-F238E27FC236}">
                <a16:creationId xmlns:a16="http://schemas.microsoft.com/office/drawing/2014/main" id="{A17F3A74-F098-D189-C394-C395397B47D0}"/>
              </a:ext>
            </a:extLst>
          </p:cNvPr>
          <p:cNvSpPr/>
          <p:nvPr/>
        </p:nvSpPr>
        <p:spPr>
          <a:xfrm>
            <a:off x="929018" y="2808422"/>
            <a:ext cx="1750197" cy="365760"/>
          </a:xfrm>
          <a:prstGeom prst="roundRect">
            <a:avLst>
              <a:gd name="adj" fmla="val 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latin typeface="Biome" panose="020B0503030204020804" pitchFamily="34" charset="0"/>
                <a:cs typeface="Biome" panose="020B0503030204020804" pitchFamily="34" charset="0"/>
              </a:rPr>
              <a:t>Home</a:t>
            </a:r>
            <a:endParaRPr lang="en-NG" sz="1400" dirty="0">
              <a:solidFill>
                <a:schemeClr val="bg1"/>
              </a:solidFill>
              <a:latin typeface="Biome" panose="020B0503030204020804" pitchFamily="34" charset="0"/>
              <a:cs typeface="Biome" panose="020B0503030204020804" pitchFamily="34" charset="0"/>
            </a:endParaRPr>
          </a:p>
        </p:txBody>
      </p:sp>
      <p:sp>
        <p:nvSpPr>
          <p:cNvPr id="16" name="Rectangle: Rounded Corners 15">
            <a:extLst>
              <a:ext uri="{FF2B5EF4-FFF2-40B4-BE49-F238E27FC236}">
                <a16:creationId xmlns:a16="http://schemas.microsoft.com/office/drawing/2014/main" id="{FABCC693-0DCC-2180-A417-B2F8C74A11FF}"/>
              </a:ext>
            </a:extLst>
          </p:cNvPr>
          <p:cNvSpPr/>
          <p:nvPr/>
        </p:nvSpPr>
        <p:spPr>
          <a:xfrm>
            <a:off x="929018" y="3192449"/>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latin typeface="Biome" panose="020B0503030204020804" pitchFamily="34" charset="0"/>
                <a:cs typeface="Biome" panose="020B0503030204020804" pitchFamily="34" charset="0"/>
              </a:rPr>
              <a:t>Courses</a:t>
            </a:r>
            <a:endParaRPr lang="en-NG" sz="1400" dirty="0">
              <a:solidFill>
                <a:schemeClr val="tx1"/>
              </a:solidFill>
              <a:latin typeface="Biome" panose="020B0503030204020804" pitchFamily="34" charset="0"/>
              <a:cs typeface="Biome" panose="020B0503030204020804" pitchFamily="34" charset="0"/>
            </a:endParaRPr>
          </a:p>
        </p:txBody>
      </p:sp>
      <p:sp>
        <p:nvSpPr>
          <p:cNvPr id="17" name="Rectangle: Rounded Corners 16">
            <a:extLst>
              <a:ext uri="{FF2B5EF4-FFF2-40B4-BE49-F238E27FC236}">
                <a16:creationId xmlns:a16="http://schemas.microsoft.com/office/drawing/2014/main" id="{E21EC725-CA0F-47CE-7BD1-3953BE0B438C}"/>
              </a:ext>
            </a:extLst>
          </p:cNvPr>
          <p:cNvSpPr/>
          <p:nvPr/>
        </p:nvSpPr>
        <p:spPr>
          <a:xfrm>
            <a:off x="3534445" y="1875979"/>
            <a:ext cx="3577553" cy="373379"/>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Cloud Engineering</a:t>
            </a:r>
            <a:endParaRPr lang="en-NG" sz="1400" dirty="0">
              <a:solidFill>
                <a:schemeClr val="tx1"/>
              </a:solidFill>
              <a:latin typeface="Biome" panose="020B0503030204020804" pitchFamily="34" charset="0"/>
              <a:cs typeface="Biome" panose="020B0503030204020804" pitchFamily="34" charset="0"/>
            </a:endParaRPr>
          </a:p>
        </p:txBody>
      </p:sp>
      <p:sp>
        <p:nvSpPr>
          <p:cNvPr id="19" name="Isosceles Triangle 18">
            <a:extLst>
              <a:ext uri="{FF2B5EF4-FFF2-40B4-BE49-F238E27FC236}">
                <a16:creationId xmlns:a16="http://schemas.microsoft.com/office/drawing/2014/main" id="{715929C4-428A-5427-FDA0-EE1B9B881525}"/>
              </a:ext>
            </a:extLst>
          </p:cNvPr>
          <p:cNvSpPr/>
          <p:nvPr/>
        </p:nvSpPr>
        <p:spPr>
          <a:xfrm rot="10800000">
            <a:off x="6913880" y="2049754"/>
            <a:ext cx="91440" cy="7112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400"/>
          </a:p>
        </p:txBody>
      </p:sp>
      <p:sp>
        <p:nvSpPr>
          <p:cNvPr id="21" name="Rectangle: Rounded Corners 20">
            <a:extLst>
              <a:ext uri="{FF2B5EF4-FFF2-40B4-BE49-F238E27FC236}">
                <a16:creationId xmlns:a16="http://schemas.microsoft.com/office/drawing/2014/main" id="{56D57411-35A8-9C21-B780-DCEE5476FA2F}"/>
              </a:ext>
            </a:extLst>
          </p:cNvPr>
          <p:cNvSpPr/>
          <p:nvPr/>
        </p:nvSpPr>
        <p:spPr>
          <a:xfrm>
            <a:off x="917224" y="2282711"/>
            <a:ext cx="2617222" cy="319154"/>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Specialization:</a:t>
            </a:r>
            <a:endParaRPr lang="en-NG" sz="1400" dirty="0">
              <a:solidFill>
                <a:schemeClr val="tx1"/>
              </a:solidFill>
              <a:latin typeface="Biome" panose="020B0503030204020804" pitchFamily="34" charset="0"/>
              <a:cs typeface="Biome" panose="020B0503030204020804" pitchFamily="34" charset="0"/>
            </a:endParaRPr>
          </a:p>
        </p:txBody>
      </p:sp>
      <p:sp>
        <p:nvSpPr>
          <p:cNvPr id="22" name="Rectangle: Rounded Corners 21">
            <a:extLst>
              <a:ext uri="{FF2B5EF4-FFF2-40B4-BE49-F238E27FC236}">
                <a16:creationId xmlns:a16="http://schemas.microsoft.com/office/drawing/2014/main" id="{D3E0B80C-1504-BD3E-2DA8-4AEB69039EC1}"/>
              </a:ext>
            </a:extLst>
          </p:cNvPr>
          <p:cNvSpPr/>
          <p:nvPr/>
        </p:nvSpPr>
        <p:spPr>
          <a:xfrm>
            <a:off x="3534446" y="2280148"/>
            <a:ext cx="3577554" cy="319154"/>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Amazon Web Services</a:t>
            </a:r>
            <a:endParaRPr lang="en-NG" sz="1400" dirty="0">
              <a:solidFill>
                <a:schemeClr val="tx1"/>
              </a:solidFill>
              <a:latin typeface="Biome" panose="020B0503030204020804" pitchFamily="34" charset="0"/>
              <a:cs typeface="Biome" panose="020B0503030204020804" pitchFamily="34" charset="0"/>
            </a:endParaRPr>
          </a:p>
        </p:txBody>
      </p:sp>
      <p:sp>
        <p:nvSpPr>
          <p:cNvPr id="23" name="Isosceles Triangle 22">
            <a:extLst>
              <a:ext uri="{FF2B5EF4-FFF2-40B4-BE49-F238E27FC236}">
                <a16:creationId xmlns:a16="http://schemas.microsoft.com/office/drawing/2014/main" id="{196BB1D6-FCF0-37F2-D67B-506A6B49C5BD}"/>
              </a:ext>
            </a:extLst>
          </p:cNvPr>
          <p:cNvSpPr/>
          <p:nvPr/>
        </p:nvSpPr>
        <p:spPr>
          <a:xfrm rot="10800000">
            <a:off x="6913880" y="2396393"/>
            <a:ext cx="91440" cy="7112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400"/>
          </a:p>
        </p:txBody>
      </p:sp>
      <p:sp>
        <p:nvSpPr>
          <p:cNvPr id="29" name="Rectangle: Rounded Corners 28">
            <a:extLst>
              <a:ext uri="{FF2B5EF4-FFF2-40B4-BE49-F238E27FC236}">
                <a16:creationId xmlns:a16="http://schemas.microsoft.com/office/drawing/2014/main" id="{1D128B13-8343-FBC8-6DDC-9D4A691644A4}"/>
              </a:ext>
            </a:extLst>
          </p:cNvPr>
          <p:cNvSpPr/>
          <p:nvPr/>
        </p:nvSpPr>
        <p:spPr>
          <a:xfrm>
            <a:off x="916771" y="3576476"/>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Structure</a:t>
            </a:r>
            <a:endParaRPr lang="en-NG" sz="1400" dirty="0">
              <a:solidFill>
                <a:schemeClr val="tx1"/>
              </a:solidFill>
              <a:latin typeface="Biome" panose="020B0503030204020804" pitchFamily="34" charset="0"/>
              <a:cs typeface="Biome" panose="020B0503030204020804" pitchFamily="34" charset="0"/>
            </a:endParaRPr>
          </a:p>
        </p:txBody>
      </p:sp>
      <p:sp>
        <p:nvSpPr>
          <p:cNvPr id="36" name="Rectangle: Rounded Corners 35">
            <a:extLst>
              <a:ext uri="{FF2B5EF4-FFF2-40B4-BE49-F238E27FC236}">
                <a16:creationId xmlns:a16="http://schemas.microsoft.com/office/drawing/2014/main" id="{69EE329E-4D0F-8564-ABE9-828A467E6167}"/>
              </a:ext>
            </a:extLst>
          </p:cNvPr>
          <p:cNvSpPr/>
          <p:nvPr/>
        </p:nvSpPr>
        <p:spPr>
          <a:xfrm>
            <a:off x="916771" y="3970663"/>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Time-Table</a:t>
            </a:r>
            <a:endParaRPr lang="en-NG" sz="1400" dirty="0">
              <a:solidFill>
                <a:schemeClr val="tx1"/>
              </a:solidFill>
              <a:latin typeface="Biome" panose="020B0503030204020804" pitchFamily="34" charset="0"/>
              <a:cs typeface="Biome" panose="020B0503030204020804" pitchFamily="34" charset="0"/>
            </a:endParaRPr>
          </a:p>
        </p:txBody>
      </p:sp>
      <p:sp>
        <p:nvSpPr>
          <p:cNvPr id="41" name="Rectangle: Rounded Corners 40">
            <a:extLst>
              <a:ext uri="{FF2B5EF4-FFF2-40B4-BE49-F238E27FC236}">
                <a16:creationId xmlns:a16="http://schemas.microsoft.com/office/drawing/2014/main" id="{99FC3F58-A899-44D8-053B-DCE517E21C9E}"/>
              </a:ext>
            </a:extLst>
          </p:cNvPr>
          <p:cNvSpPr/>
          <p:nvPr/>
        </p:nvSpPr>
        <p:spPr>
          <a:xfrm>
            <a:off x="898991" y="4365548"/>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Internship</a:t>
            </a:r>
            <a:endParaRPr lang="en-NG" sz="1400" dirty="0">
              <a:solidFill>
                <a:schemeClr val="tx1"/>
              </a:solidFill>
              <a:latin typeface="Biome" panose="020B0503030204020804" pitchFamily="34" charset="0"/>
              <a:cs typeface="Biome" panose="020B0503030204020804" pitchFamily="34" charset="0"/>
            </a:endParaRPr>
          </a:p>
        </p:txBody>
      </p:sp>
      <p:sp>
        <p:nvSpPr>
          <p:cNvPr id="45" name="Rectangle: Rounded Corners 44">
            <a:extLst>
              <a:ext uri="{FF2B5EF4-FFF2-40B4-BE49-F238E27FC236}">
                <a16:creationId xmlns:a16="http://schemas.microsoft.com/office/drawing/2014/main" id="{853BEE5E-C456-2D80-D12A-A05012B5202D}"/>
              </a:ext>
            </a:extLst>
          </p:cNvPr>
          <p:cNvSpPr/>
          <p:nvPr/>
        </p:nvSpPr>
        <p:spPr>
          <a:xfrm>
            <a:off x="898991" y="4749575"/>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Fees</a:t>
            </a:r>
            <a:endParaRPr lang="en-NG" sz="1400" dirty="0">
              <a:solidFill>
                <a:schemeClr val="tx1"/>
              </a:solidFill>
              <a:latin typeface="Biome" panose="020B0503030204020804" pitchFamily="34" charset="0"/>
              <a:cs typeface="Biome" panose="020B0503030204020804" pitchFamily="34" charset="0"/>
            </a:endParaRPr>
          </a:p>
        </p:txBody>
      </p:sp>
      <p:sp>
        <p:nvSpPr>
          <p:cNvPr id="46" name="Rectangle: Rounded Corners 45">
            <a:extLst>
              <a:ext uri="{FF2B5EF4-FFF2-40B4-BE49-F238E27FC236}">
                <a16:creationId xmlns:a16="http://schemas.microsoft.com/office/drawing/2014/main" id="{430A7C05-2DC6-6989-E348-D7398D921191}"/>
              </a:ext>
            </a:extLst>
          </p:cNvPr>
          <p:cNvSpPr/>
          <p:nvPr/>
        </p:nvSpPr>
        <p:spPr>
          <a:xfrm>
            <a:off x="886744" y="5133602"/>
            <a:ext cx="1750197" cy="365760"/>
          </a:xfrm>
          <a:prstGeom prst="roundRect">
            <a:avLst>
              <a:gd name="adj" fmla="val 0"/>
            </a:avLst>
          </a:prstGeom>
          <a:solidFill>
            <a:schemeClr val="bg2">
              <a:lumMod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iome" panose="020B0503030204020804" pitchFamily="34" charset="0"/>
                <a:cs typeface="Biome" panose="020B0503030204020804" pitchFamily="34" charset="0"/>
              </a:rPr>
              <a:t>Funding</a:t>
            </a:r>
            <a:endParaRPr lang="en-NG" sz="1400" dirty="0">
              <a:solidFill>
                <a:schemeClr val="tx1"/>
              </a:solidFill>
              <a:latin typeface="Biome" panose="020B0503030204020804" pitchFamily="34" charset="0"/>
              <a:cs typeface="Biome" panose="020B0503030204020804" pitchFamily="34" charset="0"/>
            </a:endParaRPr>
          </a:p>
        </p:txBody>
      </p:sp>
      <p:sp>
        <p:nvSpPr>
          <p:cNvPr id="48" name="Rectangle: Rounded Corners 47">
            <a:extLst>
              <a:ext uri="{FF2B5EF4-FFF2-40B4-BE49-F238E27FC236}">
                <a16:creationId xmlns:a16="http://schemas.microsoft.com/office/drawing/2014/main" id="{5C7ABCC5-CF28-81FF-152F-BB46A5122449}"/>
              </a:ext>
            </a:extLst>
          </p:cNvPr>
          <p:cNvSpPr/>
          <p:nvPr/>
        </p:nvSpPr>
        <p:spPr>
          <a:xfrm>
            <a:off x="2778138" y="2808422"/>
            <a:ext cx="7919889" cy="4353580"/>
          </a:xfrm>
          <a:prstGeom prst="roundRect">
            <a:avLst>
              <a:gd name="adj" fmla="val 1779"/>
            </a:avLst>
          </a:prstGeom>
          <a:solidFill>
            <a:schemeClr val="bg2">
              <a:lumMod val="90000"/>
              <a:alpha val="2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a:solidFill>
                  <a:schemeClr val="tx1"/>
                </a:solidFill>
                <a:latin typeface="Biome" panose="020B0503030204020804" pitchFamily="34" charset="0"/>
                <a:cs typeface="Biome" panose="020B0503030204020804" pitchFamily="34" charset="0"/>
              </a:rPr>
              <a:t>Home</a:t>
            </a:r>
            <a:endParaRPr lang="en-NG" sz="1400" dirty="0">
              <a:solidFill>
                <a:schemeClr val="tx1"/>
              </a:solidFill>
              <a:latin typeface="Biome" panose="020B0503030204020804" pitchFamily="34" charset="0"/>
              <a:cs typeface="Biome" panose="020B0503030204020804" pitchFamily="34" charset="0"/>
            </a:endParaRPr>
          </a:p>
        </p:txBody>
      </p:sp>
      <p:sp>
        <p:nvSpPr>
          <p:cNvPr id="49" name="Rectangle: Rounded Corners 48">
            <a:extLst>
              <a:ext uri="{FF2B5EF4-FFF2-40B4-BE49-F238E27FC236}">
                <a16:creationId xmlns:a16="http://schemas.microsoft.com/office/drawing/2014/main" id="{F5B52E14-64BE-F35F-F5E9-FB1A0468A9A3}"/>
              </a:ext>
            </a:extLst>
          </p:cNvPr>
          <p:cNvSpPr/>
          <p:nvPr/>
        </p:nvSpPr>
        <p:spPr>
          <a:xfrm>
            <a:off x="866280" y="1141699"/>
            <a:ext cx="5148440" cy="50101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98DA"/>
                </a:solidFill>
                <a:latin typeface="Biome" panose="020B0503030204020804" pitchFamily="34" charset="0"/>
                <a:cs typeface="Biome" panose="020B0503030204020804" pitchFamily="34" charset="0"/>
              </a:rPr>
              <a:t>Certifications</a:t>
            </a:r>
            <a:endParaRPr lang="en-NG" sz="2000" dirty="0">
              <a:solidFill>
                <a:srgbClr val="0098DA"/>
              </a:solidFill>
              <a:latin typeface="Biome" panose="020B0503030204020804" pitchFamily="34" charset="0"/>
              <a:cs typeface="Biome" panose="020B0503030204020804" pitchFamily="34" charset="0"/>
            </a:endParaRPr>
          </a:p>
        </p:txBody>
      </p:sp>
      <p:pic>
        <p:nvPicPr>
          <p:cNvPr id="6" name="Picture 5">
            <a:hlinkClick r:id="rId6" action="ppaction://hlinksldjump"/>
            <a:extLst>
              <a:ext uri="{FF2B5EF4-FFF2-40B4-BE49-F238E27FC236}">
                <a16:creationId xmlns:a16="http://schemas.microsoft.com/office/drawing/2014/main" id="{DF188478-012C-0BC3-63BF-2C1C380B43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6665" y="502744"/>
            <a:ext cx="1585782" cy="373379"/>
          </a:xfrm>
          <a:prstGeom prst="rect">
            <a:avLst/>
          </a:prstGeom>
        </p:spPr>
      </p:pic>
      <p:sp>
        <p:nvSpPr>
          <p:cNvPr id="10" name="TextBox 9">
            <a:extLst>
              <a:ext uri="{FF2B5EF4-FFF2-40B4-BE49-F238E27FC236}">
                <a16:creationId xmlns:a16="http://schemas.microsoft.com/office/drawing/2014/main" id="{AA589D68-C4D6-1AD1-E881-7127C32D8AB6}"/>
              </a:ext>
            </a:extLst>
          </p:cNvPr>
          <p:cNvSpPr txBox="1"/>
          <p:nvPr/>
        </p:nvSpPr>
        <p:spPr>
          <a:xfrm>
            <a:off x="4759018" y="713974"/>
            <a:ext cx="4492603" cy="523220"/>
          </a:xfrm>
          <a:prstGeom prst="rect">
            <a:avLst/>
          </a:prstGeom>
          <a:solidFill>
            <a:srgbClr val="0098DA">
              <a:alpha val="12000"/>
            </a:srgbClr>
          </a:solidFill>
        </p:spPr>
        <p:txBody>
          <a:bodyPr wrap="square">
            <a:spAutoFit/>
          </a:bodyPr>
          <a:lstStyle/>
          <a:p>
            <a:r>
              <a:rPr lang="en-US" sz="1400" dirty="0">
                <a:latin typeface="Biome" panose="020B0503030204020804" pitchFamily="34" charset="0"/>
                <a:cs typeface="Biome" panose="020B0503030204020804" pitchFamily="34" charset="0"/>
              </a:rPr>
              <a:t>Reference: </a:t>
            </a:r>
          </a:p>
          <a:p>
            <a:r>
              <a:rPr lang="en-NG" sz="1400" dirty="0">
                <a:latin typeface="Biome" panose="020B0503030204020804" pitchFamily="34" charset="0"/>
                <a:cs typeface="Biome" panose="020B0503030204020804" pitchFamily="34" charset="0"/>
              </a:rPr>
              <a:t>https://www.kaggle.com/models</a:t>
            </a:r>
          </a:p>
        </p:txBody>
      </p:sp>
    </p:spTree>
    <p:extLst>
      <p:ext uri="{BB962C8B-B14F-4D97-AF65-F5344CB8AC3E}">
        <p14:creationId xmlns:p14="http://schemas.microsoft.com/office/powerpoint/2010/main" val="72063237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74D7C-E33B-4DDB-C827-F9636FF98EF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77F1AD-8CBC-D59C-A615-1358A96FC754}"/>
              </a:ext>
            </a:extLst>
          </p:cNvPr>
          <p:cNvSpPr/>
          <p:nvPr/>
        </p:nvSpPr>
        <p:spPr>
          <a:xfrm>
            <a:off x="9880191" y="505105"/>
            <a:ext cx="979687" cy="373379"/>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Biome" panose="020B0503030204020804" pitchFamily="34" charset="0"/>
                <a:cs typeface="Biome" panose="020B0503030204020804" pitchFamily="34" charset="0"/>
              </a:rPr>
              <a:t>Register</a:t>
            </a:r>
            <a:endParaRPr lang="en-NG" sz="1200" dirty="0">
              <a:latin typeface="Biome" panose="020B0503030204020804" pitchFamily="34" charset="0"/>
              <a:cs typeface="Biome" panose="020B0503030204020804" pitchFamily="34" charset="0"/>
            </a:endParaRPr>
          </a:p>
        </p:txBody>
      </p:sp>
      <p:sp>
        <p:nvSpPr>
          <p:cNvPr id="5" name="Rectangle: Rounded Corners 4">
            <a:extLst>
              <a:ext uri="{FF2B5EF4-FFF2-40B4-BE49-F238E27FC236}">
                <a16:creationId xmlns:a16="http://schemas.microsoft.com/office/drawing/2014/main" id="{5F1A9294-5765-7866-1410-4F91707B2CA4}"/>
              </a:ext>
            </a:extLst>
          </p:cNvPr>
          <p:cNvSpPr/>
          <p:nvPr/>
        </p:nvSpPr>
        <p:spPr>
          <a:xfrm>
            <a:off x="11001397" y="502743"/>
            <a:ext cx="920233" cy="37338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iome" panose="020B0503030204020804" pitchFamily="34" charset="0"/>
                <a:cs typeface="Biome" panose="020B0503030204020804" pitchFamily="34" charset="0"/>
              </a:rPr>
              <a:t>Sign in</a:t>
            </a:r>
            <a:endParaRPr lang="en-NG" sz="1200" dirty="0">
              <a:latin typeface="Biome" panose="020B0503030204020804" pitchFamily="34" charset="0"/>
              <a:cs typeface="Biome" panose="020B0503030204020804" pitchFamily="34" charset="0"/>
            </a:endParaRPr>
          </a:p>
        </p:txBody>
      </p:sp>
      <p:pic>
        <p:nvPicPr>
          <p:cNvPr id="8" name="Picture 7">
            <a:extLst>
              <a:ext uri="{FF2B5EF4-FFF2-40B4-BE49-F238E27FC236}">
                <a16:creationId xmlns:a16="http://schemas.microsoft.com/office/drawing/2014/main" id="{140312B3-36A9-318E-1FAC-A4233EA26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665" y="502744"/>
            <a:ext cx="1585782" cy="373379"/>
          </a:xfrm>
          <a:prstGeom prst="rect">
            <a:avLst/>
          </a:prstGeom>
        </p:spPr>
      </p:pic>
      <p:pic>
        <p:nvPicPr>
          <p:cNvPr id="30" name="Picture 29">
            <a:extLst>
              <a:ext uri="{FF2B5EF4-FFF2-40B4-BE49-F238E27FC236}">
                <a16:creationId xmlns:a16="http://schemas.microsoft.com/office/drawing/2014/main" id="{DA3A2C98-8D01-C8F5-1CFC-C78632DBF69F}"/>
              </a:ext>
            </a:extLst>
          </p:cNvPr>
          <p:cNvPicPr>
            <a:picLocks noChangeAspect="1"/>
          </p:cNvPicPr>
          <p:nvPr/>
        </p:nvPicPr>
        <p:blipFill>
          <a:blip r:embed="rId3"/>
          <a:stretch>
            <a:fillRect/>
          </a:stretch>
        </p:blipFill>
        <p:spPr>
          <a:xfrm>
            <a:off x="0" y="-371033"/>
            <a:ext cx="12192000" cy="711942"/>
          </a:xfrm>
          <a:prstGeom prst="rect">
            <a:avLst/>
          </a:prstGeom>
        </p:spPr>
      </p:pic>
      <p:sp>
        <p:nvSpPr>
          <p:cNvPr id="31" name="Rectangle: Rounded Corners 30">
            <a:extLst>
              <a:ext uri="{FF2B5EF4-FFF2-40B4-BE49-F238E27FC236}">
                <a16:creationId xmlns:a16="http://schemas.microsoft.com/office/drawing/2014/main" id="{6D5B2C39-5AB4-5941-1C35-A1EDB5E4312C}"/>
              </a:ext>
            </a:extLst>
          </p:cNvPr>
          <p:cNvSpPr/>
          <p:nvPr/>
        </p:nvSpPr>
        <p:spPr>
          <a:xfrm>
            <a:off x="1442207" y="0"/>
            <a:ext cx="1585782" cy="273995"/>
          </a:xfrm>
          <a:prstGeom prst="roundRect">
            <a:avLst>
              <a:gd name="adj" fmla="val 0"/>
            </a:avLst>
          </a:prstGeom>
          <a:solidFill>
            <a:srgbClr val="EE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Univaciti.com</a:t>
            </a:r>
          </a:p>
        </p:txBody>
      </p:sp>
      <p:pic>
        <p:nvPicPr>
          <p:cNvPr id="33" name="Picture 32">
            <a:extLst>
              <a:ext uri="{FF2B5EF4-FFF2-40B4-BE49-F238E27FC236}">
                <a16:creationId xmlns:a16="http://schemas.microsoft.com/office/drawing/2014/main" id="{242F82FA-DBB7-01F3-E48E-33D016C77207}"/>
              </a:ext>
            </a:extLst>
          </p:cNvPr>
          <p:cNvPicPr>
            <a:picLocks noChangeAspect="1"/>
          </p:cNvPicPr>
          <p:nvPr/>
        </p:nvPicPr>
        <p:blipFill>
          <a:blip r:embed="rId4"/>
          <a:stretch>
            <a:fillRect/>
          </a:stretch>
        </p:blipFill>
        <p:spPr>
          <a:xfrm>
            <a:off x="1194006" y="6243496"/>
            <a:ext cx="1144853" cy="390291"/>
          </a:xfrm>
          <a:prstGeom prst="rect">
            <a:avLst/>
          </a:prstGeom>
          <a:solidFill>
            <a:srgbClr val="FAFBFC"/>
          </a:solidFill>
        </p:spPr>
      </p:pic>
      <p:sp>
        <p:nvSpPr>
          <p:cNvPr id="2" name="Rectangle: Rounded Corners 1">
            <a:extLst>
              <a:ext uri="{FF2B5EF4-FFF2-40B4-BE49-F238E27FC236}">
                <a16:creationId xmlns:a16="http://schemas.microsoft.com/office/drawing/2014/main" id="{0AF2E7E4-51FB-B0F9-7CAB-5E70377F8799}"/>
              </a:ext>
            </a:extLst>
          </p:cNvPr>
          <p:cNvSpPr/>
          <p:nvPr/>
        </p:nvSpPr>
        <p:spPr>
          <a:xfrm>
            <a:off x="886744" y="1370647"/>
            <a:ext cx="3586356" cy="50101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iome" panose="020B0503030204020804" pitchFamily="34" charset="0"/>
                <a:cs typeface="Biome" panose="020B0503030204020804" pitchFamily="34" charset="0"/>
              </a:rPr>
              <a:t>T E S A</a:t>
            </a:r>
            <a:endParaRPr lang="en-NG" sz="2000" dirty="0">
              <a:solidFill>
                <a:schemeClr val="tx1"/>
              </a:solidFill>
              <a:latin typeface="Biome" panose="020B0503030204020804" pitchFamily="34" charset="0"/>
              <a:cs typeface="Biome" panose="020B0503030204020804" pitchFamily="34" charset="0"/>
            </a:endParaRPr>
          </a:p>
        </p:txBody>
      </p:sp>
      <p:sp>
        <p:nvSpPr>
          <p:cNvPr id="3" name="Rectangle: Rounded Corners 2">
            <a:extLst>
              <a:ext uri="{FF2B5EF4-FFF2-40B4-BE49-F238E27FC236}">
                <a16:creationId xmlns:a16="http://schemas.microsoft.com/office/drawing/2014/main" id="{4F4F5690-517B-9A82-CB85-AA954D224534}"/>
              </a:ext>
            </a:extLst>
          </p:cNvPr>
          <p:cNvSpPr/>
          <p:nvPr/>
        </p:nvSpPr>
        <p:spPr>
          <a:xfrm>
            <a:off x="12329160" y="1780425"/>
            <a:ext cx="640080" cy="640080"/>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200" dirty="0">
              <a:latin typeface="Biome" panose="020B0503030204020804" pitchFamily="34" charset="0"/>
              <a:cs typeface="Biome" panose="020B0503030204020804" pitchFamily="34" charset="0"/>
            </a:endParaRPr>
          </a:p>
        </p:txBody>
      </p:sp>
      <p:sp>
        <p:nvSpPr>
          <p:cNvPr id="6" name="Rectangle: Rounded Corners 5">
            <a:extLst>
              <a:ext uri="{FF2B5EF4-FFF2-40B4-BE49-F238E27FC236}">
                <a16:creationId xmlns:a16="http://schemas.microsoft.com/office/drawing/2014/main" id="{698AA166-97C1-475C-3D2D-A7F59FC90CAB}"/>
              </a:ext>
            </a:extLst>
          </p:cNvPr>
          <p:cNvSpPr/>
          <p:nvPr/>
        </p:nvSpPr>
        <p:spPr>
          <a:xfrm>
            <a:off x="898991" y="1780425"/>
            <a:ext cx="8836376"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Biome" panose="020B0503030204020804" pitchFamily="34" charset="0"/>
                <a:cs typeface="Biome" panose="020B0503030204020804" pitchFamily="34" charset="0"/>
              </a:rPr>
              <a:t>Tech Skills Accelerator</a:t>
            </a:r>
          </a:p>
        </p:txBody>
      </p:sp>
      <p:pic>
        <p:nvPicPr>
          <p:cNvPr id="51" name="Graphic 50" descr="Circular flowchart with solid fill">
            <a:extLst>
              <a:ext uri="{FF2B5EF4-FFF2-40B4-BE49-F238E27FC236}">
                <a16:creationId xmlns:a16="http://schemas.microsoft.com/office/drawing/2014/main" id="{64C9F439-77CB-10AC-A40F-2F77FDF5BB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92000" y="2420505"/>
            <a:ext cx="914400" cy="914400"/>
          </a:xfrm>
          <a:prstGeom prst="rect">
            <a:avLst/>
          </a:prstGeom>
        </p:spPr>
      </p:pic>
      <p:sp>
        <p:nvSpPr>
          <p:cNvPr id="7" name="Rectangle: Rounded Corners 6">
            <a:extLst>
              <a:ext uri="{FF2B5EF4-FFF2-40B4-BE49-F238E27FC236}">
                <a16:creationId xmlns:a16="http://schemas.microsoft.com/office/drawing/2014/main" id="{C053CC66-476A-DDFD-2D79-B28E617F0B2C}"/>
              </a:ext>
            </a:extLst>
          </p:cNvPr>
          <p:cNvSpPr/>
          <p:nvPr/>
        </p:nvSpPr>
        <p:spPr>
          <a:xfrm>
            <a:off x="952363" y="2366185"/>
            <a:ext cx="1386496" cy="36576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Biome" panose="020B0503030204020804" pitchFamily="34" charset="0"/>
                <a:cs typeface="Biome" panose="020B0503030204020804" pitchFamily="34" charset="0"/>
              </a:rPr>
              <a:t>Admission</a:t>
            </a:r>
            <a:endParaRPr lang="en-NG" sz="1200" dirty="0">
              <a:latin typeface="Biome" panose="020B0503030204020804" pitchFamily="34" charset="0"/>
              <a:cs typeface="Biome" panose="020B0503030204020804" pitchFamily="34" charset="0"/>
            </a:endParaRPr>
          </a:p>
        </p:txBody>
      </p:sp>
      <p:sp>
        <p:nvSpPr>
          <p:cNvPr id="9" name="Rectangle: Rounded Corners 8">
            <a:extLst>
              <a:ext uri="{FF2B5EF4-FFF2-40B4-BE49-F238E27FC236}">
                <a16:creationId xmlns:a16="http://schemas.microsoft.com/office/drawing/2014/main" id="{B1A65FB8-8DA8-20C7-1983-BD7561A275FC}"/>
              </a:ext>
            </a:extLst>
          </p:cNvPr>
          <p:cNvSpPr/>
          <p:nvPr/>
        </p:nvSpPr>
        <p:spPr>
          <a:xfrm>
            <a:off x="952363" y="2775964"/>
            <a:ext cx="1386496" cy="36576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Biome" panose="020B0503030204020804" pitchFamily="34" charset="0"/>
                <a:cs typeface="Biome" panose="020B0503030204020804" pitchFamily="34" charset="0"/>
              </a:rPr>
              <a:t>Courses</a:t>
            </a:r>
            <a:endParaRPr lang="en-NG" sz="1200" dirty="0">
              <a:latin typeface="Biome" panose="020B0503030204020804" pitchFamily="34" charset="0"/>
              <a:cs typeface="Biome" panose="020B0503030204020804" pitchFamily="34" charset="0"/>
            </a:endParaRPr>
          </a:p>
        </p:txBody>
      </p:sp>
      <p:sp>
        <p:nvSpPr>
          <p:cNvPr id="10" name="Rectangle: Rounded Corners 9">
            <a:extLst>
              <a:ext uri="{FF2B5EF4-FFF2-40B4-BE49-F238E27FC236}">
                <a16:creationId xmlns:a16="http://schemas.microsoft.com/office/drawing/2014/main" id="{C921F3DE-6538-354B-E9F4-E9D24DDAE43E}"/>
              </a:ext>
            </a:extLst>
          </p:cNvPr>
          <p:cNvSpPr/>
          <p:nvPr/>
        </p:nvSpPr>
        <p:spPr>
          <a:xfrm>
            <a:off x="952363" y="3183541"/>
            <a:ext cx="1386496" cy="36576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Biome" panose="020B0503030204020804" pitchFamily="34" charset="0"/>
                <a:cs typeface="Biome" panose="020B0503030204020804" pitchFamily="34" charset="0"/>
              </a:rPr>
              <a:t>Labs</a:t>
            </a:r>
            <a:endParaRPr lang="en-NG" sz="1200" dirty="0">
              <a:latin typeface="Biome" panose="020B0503030204020804" pitchFamily="34" charset="0"/>
              <a:cs typeface="Biome" panose="020B0503030204020804" pitchFamily="34" charset="0"/>
            </a:endParaRPr>
          </a:p>
        </p:txBody>
      </p:sp>
      <p:sp>
        <p:nvSpPr>
          <p:cNvPr id="12" name="Rectangle: Rounded Corners 11">
            <a:extLst>
              <a:ext uri="{FF2B5EF4-FFF2-40B4-BE49-F238E27FC236}">
                <a16:creationId xmlns:a16="http://schemas.microsoft.com/office/drawing/2014/main" id="{F153192C-2A4D-B43F-26AC-3F4D70DA2A65}"/>
              </a:ext>
            </a:extLst>
          </p:cNvPr>
          <p:cNvSpPr/>
          <p:nvPr/>
        </p:nvSpPr>
        <p:spPr>
          <a:xfrm>
            <a:off x="952363" y="3593320"/>
            <a:ext cx="1386496" cy="36576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Biome" panose="020B0503030204020804" pitchFamily="34" charset="0"/>
                <a:cs typeface="Biome" panose="020B0503030204020804" pitchFamily="34" charset="0"/>
              </a:rPr>
              <a:t>Internship</a:t>
            </a:r>
            <a:endParaRPr lang="en-NG" sz="1200" dirty="0">
              <a:latin typeface="Biome" panose="020B0503030204020804" pitchFamily="34" charset="0"/>
              <a:cs typeface="Biome" panose="020B0503030204020804" pitchFamily="34" charset="0"/>
            </a:endParaRPr>
          </a:p>
        </p:txBody>
      </p:sp>
      <p:sp>
        <p:nvSpPr>
          <p:cNvPr id="13" name="Rectangle: Rounded Corners 12">
            <a:extLst>
              <a:ext uri="{FF2B5EF4-FFF2-40B4-BE49-F238E27FC236}">
                <a16:creationId xmlns:a16="http://schemas.microsoft.com/office/drawing/2014/main" id="{F7EFD8A6-72CF-009C-FFD8-AD0822C9FF15}"/>
              </a:ext>
            </a:extLst>
          </p:cNvPr>
          <p:cNvSpPr/>
          <p:nvPr/>
        </p:nvSpPr>
        <p:spPr>
          <a:xfrm>
            <a:off x="952363" y="4001364"/>
            <a:ext cx="1386496" cy="36576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Biome" panose="020B0503030204020804" pitchFamily="34" charset="0"/>
                <a:cs typeface="Biome" panose="020B0503030204020804" pitchFamily="34" charset="0"/>
              </a:rPr>
              <a:t>Time -Table</a:t>
            </a:r>
            <a:endParaRPr lang="en-NG" sz="1200" dirty="0">
              <a:latin typeface="Biome" panose="020B0503030204020804" pitchFamily="34" charset="0"/>
              <a:cs typeface="Biome" panose="020B0503030204020804" pitchFamily="34" charset="0"/>
            </a:endParaRPr>
          </a:p>
        </p:txBody>
      </p:sp>
      <p:sp>
        <p:nvSpPr>
          <p:cNvPr id="14" name="Rectangle: Rounded Corners 13">
            <a:extLst>
              <a:ext uri="{FF2B5EF4-FFF2-40B4-BE49-F238E27FC236}">
                <a16:creationId xmlns:a16="http://schemas.microsoft.com/office/drawing/2014/main" id="{9D8D256C-45AA-3166-1440-A91536AE37DA}"/>
              </a:ext>
            </a:extLst>
          </p:cNvPr>
          <p:cNvSpPr/>
          <p:nvPr/>
        </p:nvSpPr>
        <p:spPr>
          <a:xfrm>
            <a:off x="952363" y="4411143"/>
            <a:ext cx="1386496" cy="365760"/>
          </a:xfrm>
          <a:prstGeom prst="roundRect">
            <a:avLst>
              <a:gd name="adj" fmla="val 50000"/>
            </a:avLst>
          </a:prstGeom>
          <a:solidFill>
            <a:srgbClr val="0098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Biome" panose="020B0503030204020804" pitchFamily="34" charset="0"/>
                <a:cs typeface="Biome" panose="020B0503030204020804" pitchFamily="34" charset="0"/>
              </a:rPr>
              <a:t>Funding</a:t>
            </a:r>
            <a:endParaRPr lang="en-NG" sz="1200" dirty="0">
              <a:latin typeface="Biome" panose="020B0503030204020804" pitchFamily="34" charset="0"/>
              <a:cs typeface="Biome" panose="020B0503030204020804" pitchFamily="34" charset="0"/>
            </a:endParaRPr>
          </a:p>
        </p:txBody>
      </p:sp>
      <p:sp>
        <p:nvSpPr>
          <p:cNvPr id="11" name="Rectangle: Rounded Corners 10">
            <a:hlinkClick r:id="rId7" action="ppaction://hlinksldjump"/>
            <a:extLst>
              <a:ext uri="{FF2B5EF4-FFF2-40B4-BE49-F238E27FC236}">
                <a16:creationId xmlns:a16="http://schemas.microsoft.com/office/drawing/2014/main" id="{1EAC6474-0D94-F595-B6FE-780C8572F618}"/>
              </a:ext>
            </a:extLst>
          </p:cNvPr>
          <p:cNvSpPr>
            <a:spLocks/>
          </p:cNvSpPr>
          <p:nvPr/>
        </p:nvSpPr>
        <p:spPr>
          <a:xfrm>
            <a:off x="2726975"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Programmes</a:t>
            </a:r>
          </a:p>
        </p:txBody>
      </p:sp>
      <p:sp>
        <p:nvSpPr>
          <p:cNvPr id="15" name="Rectangle: Rounded Corners 14">
            <a:hlinkClick r:id="rId8" action="ppaction://hlinksldjump"/>
            <a:extLst>
              <a:ext uri="{FF2B5EF4-FFF2-40B4-BE49-F238E27FC236}">
                <a16:creationId xmlns:a16="http://schemas.microsoft.com/office/drawing/2014/main" id="{A77BB0D0-02B3-FBDC-0CA3-963225D2D4EC}"/>
              </a:ext>
            </a:extLst>
          </p:cNvPr>
          <p:cNvSpPr/>
          <p:nvPr/>
        </p:nvSpPr>
        <p:spPr>
          <a:xfrm>
            <a:off x="4097157"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Certification</a:t>
            </a:r>
          </a:p>
        </p:txBody>
      </p:sp>
      <p:sp>
        <p:nvSpPr>
          <p:cNvPr id="16" name="Rectangle: Rounded Corners 15">
            <a:hlinkClick r:id="rId9" action="ppaction://hlinksldjump"/>
            <a:extLst>
              <a:ext uri="{FF2B5EF4-FFF2-40B4-BE49-F238E27FC236}">
                <a16:creationId xmlns:a16="http://schemas.microsoft.com/office/drawing/2014/main" id="{412DCA83-B077-B167-F486-D06E8C23B3BE}"/>
              </a:ext>
            </a:extLst>
          </p:cNvPr>
          <p:cNvSpPr/>
          <p:nvPr/>
        </p:nvSpPr>
        <p:spPr>
          <a:xfrm>
            <a:off x="559786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Recruitment</a:t>
            </a:r>
          </a:p>
        </p:txBody>
      </p:sp>
      <p:sp>
        <p:nvSpPr>
          <p:cNvPr id="17" name="Rectangle: Rounded Corners 16">
            <a:extLst>
              <a:ext uri="{FF2B5EF4-FFF2-40B4-BE49-F238E27FC236}">
                <a16:creationId xmlns:a16="http://schemas.microsoft.com/office/drawing/2014/main" id="{85F51813-ACF6-E842-E886-47A14546196B}"/>
              </a:ext>
            </a:extLst>
          </p:cNvPr>
          <p:cNvSpPr/>
          <p:nvPr/>
        </p:nvSpPr>
        <p:spPr>
          <a:xfrm>
            <a:off x="7090858" y="502743"/>
            <a:ext cx="1585782" cy="3733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8DA"/>
                </a:solidFill>
                <a:latin typeface="Biome" panose="020B0503030204020804" pitchFamily="34" charset="0"/>
                <a:cs typeface="Biome" panose="020B0503030204020804" pitchFamily="34" charset="0"/>
              </a:rPr>
              <a:t>Community</a:t>
            </a:r>
          </a:p>
        </p:txBody>
      </p:sp>
    </p:spTree>
    <p:extLst>
      <p:ext uri="{BB962C8B-B14F-4D97-AF65-F5344CB8AC3E}">
        <p14:creationId xmlns:p14="http://schemas.microsoft.com/office/powerpoint/2010/main" val="2561092826"/>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725</TotalTime>
  <Words>607</Words>
  <Application>Microsoft Office PowerPoint</Application>
  <PresentationFormat>Widescreen</PresentationFormat>
  <Paragraphs>159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Biome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Yinka Daramola</dc:creator>
  <cp:lastModifiedBy>Yinka Daramola</cp:lastModifiedBy>
  <cp:revision>57</cp:revision>
  <dcterms:created xsi:type="dcterms:W3CDTF">2025-10-12T18:00:45Z</dcterms:created>
  <dcterms:modified xsi:type="dcterms:W3CDTF">2026-01-21T19:08:46Z</dcterms:modified>
</cp:coreProperties>
</file>